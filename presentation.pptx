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20"/>
  </p:notesMasterIdLst>
  <p:sldIdLst>
    <p:sldId id="256" r:id="rId2"/>
    <p:sldId id="285" r:id="rId3"/>
    <p:sldId id="257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71" r:id="rId12"/>
    <p:sldId id="279" r:id="rId13"/>
    <p:sldId id="280" r:id="rId14"/>
    <p:sldId id="281" r:id="rId15"/>
    <p:sldId id="282" r:id="rId16"/>
    <p:sldId id="283" r:id="rId17"/>
    <p:sldId id="284" r:id="rId18"/>
    <p:sldId id="286" r:id="rId19"/>
  </p:sldIdLst>
  <p:sldSz cx="6858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FF"/>
    <a:srgbClr val="FE9202"/>
    <a:srgbClr val="FF0000"/>
    <a:srgbClr val="007033"/>
    <a:srgbClr val="00E6F2"/>
    <a:srgbClr val="FF015C"/>
    <a:srgbClr val="E50D79"/>
    <a:srgbClr val="CC0099"/>
    <a:srgbClr val="E2109C"/>
    <a:srgbClr val="99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59" autoAdjust="0"/>
    <p:restoredTop sz="86369" autoAdjust="0"/>
  </p:normalViewPr>
  <p:slideViewPr>
    <p:cSldViewPr>
      <p:cViewPr>
        <p:scale>
          <a:sx n="90" d="100"/>
          <a:sy n="90" d="100"/>
        </p:scale>
        <p:origin x="-1052" y="-212"/>
      </p:cViewPr>
      <p:guideLst>
        <p:guide orient="horz" pos="1620"/>
        <p:guide pos="2160"/>
      </p:guideLst>
    </p:cSldViewPr>
  </p:slideViewPr>
  <p:outlineViewPr>
    <p:cViewPr>
      <p:scale>
        <a:sx n="33" d="100"/>
        <a:sy n="33" d="100"/>
      </p:scale>
      <p:origin x="0" y="31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 l="-15000" r="-1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42900" y="1808226"/>
            <a:ext cx="6070682" cy="1400423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l">
              <a:defRPr sz="27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" y="3487980"/>
            <a:ext cx="6172200" cy="763524"/>
          </a:xfrm>
        </p:spPr>
        <p:txBody>
          <a:bodyPr>
            <a:normAutofit/>
          </a:bodyPr>
          <a:lstStyle>
            <a:lvl1pPr marL="0" indent="0" algn="l">
              <a:buNone/>
              <a:defRPr sz="2100" b="0" i="0">
                <a:solidFill>
                  <a:srgbClr val="00B0F0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547" y="400254"/>
            <a:ext cx="6184553" cy="763524"/>
          </a:xfrm>
        </p:spPr>
        <p:txBody>
          <a:bodyPr>
            <a:normAutofit/>
          </a:bodyPr>
          <a:lstStyle>
            <a:lvl1pPr algn="l">
              <a:defRPr sz="2700" baseline="0">
                <a:solidFill>
                  <a:srgbClr val="00206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724" y="1502816"/>
            <a:ext cx="6184553" cy="3264446"/>
          </a:xfrm>
        </p:spPr>
        <p:txBody>
          <a:bodyPr/>
          <a:lstStyle>
            <a:lvl1pPr algn="l">
              <a:defRPr sz="2100"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 l="-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177" y="369928"/>
            <a:ext cx="4689503" cy="763525"/>
          </a:xfrm>
        </p:spPr>
        <p:txBody>
          <a:bodyPr>
            <a:normAutofit/>
          </a:bodyPr>
          <a:lstStyle>
            <a:lvl1pPr algn="l">
              <a:defRPr sz="27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178" y="1191095"/>
            <a:ext cx="4689503" cy="3576168"/>
          </a:xfrm>
        </p:spPr>
        <p:txBody>
          <a:bodyPr/>
          <a:lstStyle>
            <a:lvl1pPr>
              <a:defRPr sz="21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3305176"/>
            <a:ext cx="58293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2180035"/>
            <a:ext cx="58293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200151"/>
            <a:ext cx="302895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200151"/>
            <a:ext cx="302895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659" y="328707"/>
            <a:ext cx="6057672" cy="763525"/>
          </a:xfrm>
        </p:spPr>
        <p:txBody>
          <a:bodyPr>
            <a:normAutofit/>
          </a:bodyPr>
          <a:lstStyle>
            <a:lvl1pPr algn="l">
              <a:defRPr sz="2700" baseline="0">
                <a:solidFill>
                  <a:srgbClr val="00206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2659" y="1655520"/>
            <a:ext cx="3030141" cy="479822"/>
          </a:xfrm>
        </p:spPr>
        <p:txBody>
          <a:bodyPr anchor="b"/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2659" y="2127917"/>
            <a:ext cx="3030141" cy="2276294"/>
          </a:xfrm>
        </p:spPr>
        <p:txBody>
          <a:bodyPr/>
          <a:lstStyle>
            <a:lvl1pPr algn="ctr">
              <a:defRPr sz="1800">
                <a:solidFill>
                  <a:schemeClr val="tx1"/>
                </a:solidFill>
              </a:defRPr>
            </a:lvl1pPr>
            <a:lvl2pPr algn="ctr">
              <a:defRPr sz="1500">
                <a:solidFill>
                  <a:schemeClr val="tx1"/>
                </a:solidFill>
              </a:defRPr>
            </a:lvl2pPr>
            <a:lvl3pPr algn="ctr">
              <a:defRPr sz="1350">
                <a:solidFill>
                  <a:schemeClr val="tx1"/>
                </a:solidFill>
              </a:defRPr>
            </a:lvl3pPr>
            <a:lvl4pPr algn="ctr">
              <a:defRPr sz="1200">
                <a:solidFill>
                  <a:schemeClr val="tx1"/>
                </a:solidFill>
              </a:defRPr>
            </a:lvl4pPr>
            <a:lvl5pPr algn="ctr">
              <a:defRPr sz="1200">
                <a:solidFill>
                  <a:schemeClr val="tx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9001" y="1655520"/>
            <a:ext cx="3031331" cy="479822"/>
          </a:xfrm>
        </p:spPr>
        <p:txBody>
          <a:bodyPr anchor="b"/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29001" y="2127917"/>
            <a:ext cx="3031331" cy="2276294"/>
          </a:xfrm>
        </p:spPr>
        <p:txBody>
          <a:bodyPr/>
          <a:lstStyle>
            <a:lvl1pPr algn="ctr">
              <a:defRPr sz="1800">
                <a:solidFill>
                  <a:schemeClr val="tx1"/>
                </a:solidFill>
              </a:defRPr>
            </a:lvl1pPr>
            <a:lvl2pPr algn="ctr">
              <a:defRPr sz="1500">
                <a:solidFill>
                  <a:schemeClr val="tx1"/>
                </a:solidFill>
              </a:defRPr>
            </a:lvl2pPr>
            <a:lvl3pPr algn="ctr">
              <a:defRPr sz="1350">
                <a:solidFill>
                  <a:schemeClr val="tx1"/>
                </a:solidFill>
              </a:defRPr>
            </a:lvl3pPr>
            <a:lvl4pPr algn="ctr">
              <a:defRPr sz="1200">
                <a:solidFill>
                  <a:schemeClr val="tx1"/>
                </a:solidFill>
              </a:defRPr>
            </a:lvl4pPr>
            <a:lvl5pPr algn="ctr">
              <a:defRPr sz="1200">
                <a:solidFill>
                  <a:schemeClr val="tx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1" y="204787"/>
            <a:ext cx="2256235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04789"/>
            <a:ext cx="3833813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1" y="1076327"/>
            <a:ext cx="2256235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459581"/>
            <a:ext cx="41148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4025504"/>
            <a:ext cx="41148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05979"/>
            <a:ext cx="154305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05979"/>
            <a:ext cx="451485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‹N°›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=""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56356" y="2419045"/>
            <a:ext cx="1097838" cy="434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5EE4229-FDA3-419F-948E-EC3B542AE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9" y="102395"/>
            <a:ext cx="5915025" cy="57607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AD5E140-8BC8-449A-8EB6-5236A4689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D5C2E-AF49-4B3E-833F-5946220A398E}" type="datetime1">
              <a:rPr lang="en-US" smtClean="0"/>
              <a:t>1/16/2025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AC3E766-E3A6-4451-8208-02143C37E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Designed by PoweredTemplate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EF041C4-DDAB-4C12-865A-AD93CBA2A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94920-2F4F-4D88-AD0A-053AE5A679D0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125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-15000" r="-1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05979"/>
            <a:ext cx="6172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200151"/>
            <a:ext cx="61722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6862" y="5213747"/>
            <a:ext cx="629221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05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2195" y="2266340"/>
            <a:ext cx="6070682" cy="1400423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Robot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Suiveur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Ligne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4900" y="4024210"/>
            <a:ext cx="3086100" cy="763524"/>
          </a:xfrm>
        </p:spPr>
        <p:txBody>
          <a:bodyPr>
            <a:noAutofit/>
          </a:bodyPr>
          <a:lstStyle/>
          <a:p>
            <a:r>
              <a:rPr lang="fr-FR" sz="1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Réaliser Par </a:t>
            </a:r>
            <a:r>
              <a:rPr lang="fr-FR" sz="16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fr-FR" sz="1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FERJOUCHIA </a:t>
            </a:r>
            <a:r>
              <a:rPr lang="fr-FR" sz="1400" b="1" dirty="0" err="1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Abderrahman</a:t>
            </a:r>
            <a:endParaRPr lang="fr-FR" sz="14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fr-FR" sz="1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JABER </a:t>
            </a:r>
            <a:r>
              <a:rPr lang="fr-FR" sz="1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Yahia</a:t>
            </a:r>
            <a:endParaRPr lang="en-US" sz="1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08185" y="1502814"/>
            <a:ext cx="366492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100" b="1" dirty="0">
                <a:latin typeface="Times New Roman" pitchFamily="18" charset="0"/>
                <a:cs typeface="Times New Roman" pitchFamily="18" charset="0"/>
              </a:rPr>
              <a:t>MASTER : INFORMATIQUE ET </a:t>
            </a:r>
            <a:r>
              <a:rPr lang="fr-FR" sz="1050" b="1" dirty="0">
                <a:latin typeface="Times New Roman" pitchFamily="18" charset="0"/>
                <a:cs typeface="Times New Roman" pitchFamily="18" charset="0"/>
              </a:rPr>
              <a:t>ELECTRONIQUE</a:t>
            </a:r>
            <a:r>
              <a:rPr lang="fr-FR" sz="1100" b="1" dirty="0">
                <a:latin typeface="Times New Roman" pitchFamily="18" charset="0"/>
                <a:cs typeface="Times New Roman" pitchFamily="18" charset="0"/>
              </a:rPr>
              <a:t> DES SYSTEMES </a:t>
            </a:r>
            <a:r>
              <a:rPr lang="fr-FR" sz="1050" b="1" dirty="0" smtClean="0">
                <a:latin typeface="Times New Roman" pitchFamily="18" charset="0"/>
                <a:cs typeface="Times New Roman" pitchFamily="18" charset="0"/>
              </a:rPr>
              <a:t>EMBARQUEE</a:t>
            </a:r>
            <a:endParaRPr lang="fr-FR" sz="11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87115" y="4098800"/>
            <a:ext cx="1767535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b="1" dirty="0">
                <a:latin typeface="Times New Roman" pitchFamily="18" charset="0"/>
                <a:cs typeface="Times New Roman" pitchFamily="18" charset="0"/>
              </a:rPr>
              <a:t>Encadré</a:t>
            </a:r>
            <a:r>
              <a:rPr lang="fr-FR" b="1" dirty="0">
                <a:latin typeface="Times New Roman" pitchFamily="18" charset="0"/>
                <a:cs typeface="Times New Roman" pitchFamily="18" charset="0"/>
              </a:rPr>
              <a:t> par </a:t>
            </a:r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fr-FR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Pr </a:t>
            </a:r>
            <a:r>
              <a:rPr lang="fr-FR" sz="1400" dirty="0">
                <a:latin typeface="Times New Roman" pitchFamily="18" charset="0"/>
                <a:cs typeface="Times New Roman" pitchFamily="18" charset="0"/>
              </a:rPr>
              <a:t>Younes</a:t>
            </a:r>
            <a:r>
              <a:rPr lang="fr-FR" sz="1600" dirty="0">
                <a:latin typeface="Times New Roman" pitchFamily="18" charset="0"/>
                <a:cs typeface="Times New Roman" pitchFamily="18" charset="0"/>
              </a:rPr>
              <a:t> RAOUI</a:t>
            </a:r>
          </a:p>
        </p:txBody>
      </p:sp>
      <p:pic>
        <p:nvPicPr>
          <p:cNvPr id="7" name="Picture 2" descr="C:\Users\user\Downloads\image-removebg-previe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900" y="128470"/>
            <a:ext cx="2698750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4000"/>
                    </a14:imgEffect>
                    <a14:imgEffect>
                      <a14:brightnessContrast bright="24000" contrast="-24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e 10"/>
          <p:cNvGrpSpPr/>
          <p:nvPr/>
        </p:nvGrpSpPr>
        <p:grpSpPr>
          <a:xfrm>
            <a:off x="-1154189" y="128470"/>
            <a:ext cx="7940660" cy="4886559"/>
            <a:chOff x="374900" y="530738"/>
            <a:chExt cx="5742453" cy="4095814"/>
          </a:xfrm>
        </p:grpSpPr>
        <p:grpSp>
          <p:nvGrpSpPr>
            <p:cNvPr id="41" name="Group 40">
              <a:extLst>
                <a:ext uri="{FF2B5EF4-FFF2-40B4-BE49-F238E27FC236}">
                  <a16:creationId xmlns="" xmlns:a16="http://schemas.microsoft.com/office/drawing/2014/main" id="{50D8D538-5D9C-0901-1C9F-4A298983140B}"/>
                </a:ext>
              </a:extLst>
            </p:cNvPr>
            <p:cNvGrpSpPr/>
            <p:nvPr/>
          </p:nvGrpSpPr>
          <p:grpSpPr>
            <a:xfrm>
              <a:off x="374900" y="530738"/>
              <a:ext cx="5738780" cy="3509093"/>
              <a:chOff x="1584661" y="1117786"/>
              <a:chExt cx="8571881" cy="4678791"/>
            </a:xfrm>
          </p:grpSpPr>
          <p:cxnSp>
            <p:nvCxnSpPr>
              <p:cNvPr id="84" name="Straight Arrow Connector 83">
                <a:extLst>
                  <a:ext uri="{FF2B5EF4-FFF2-40B4-BE49-F238E27FC236}">
                    <a16:creationId xmlns="" xmlns:a16="http://schemas.microsoft.com/office/drawing/2014/main" id="{F39F21DC-9236-8202-425E-2CBF671EEE18}"/>
                  </a:ext>
                </a:extLst>
              </p:cNvPr>
              <p:cNvCxnSpPr>
                <a:cxnSpLocks/>
                <a:stCxn id="54" idx="6"/>
                <a:endCxn id="9" idx="1"/>
              </p:cNvCxnSpPr>
              <p:nvPr/>
            </p:nvCxnSpPr>
            <p:spPr>
              <a:xfrm flipV="1">
                <a:off x="4575014" y="1367819"/>
                <a:ext cx="2264473" cy="518124"/>
              </a:xfrm>
              <a:prstGeom prst="straightConnector1">
                <a:avLst/>
              </a:prstGeom>
              <a:ln>
                <a:solidFill>
                  <a:schemeClr val="bg1">
                    <a:lumMod val="85000"/>
                  </a:schemeClr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="" xmlns:a16="http://schemas.microsoft.com/office/drawing/2014/main" id="{D7726333-E7F6-9E49-80D7-DF8D321AB6E5}"/>
                  </a:ext>
                </a:extLst>
              </p:cNvPr>
              <p:cNvCxnSpPr>
                <a:cxnSpLocks/>
                <a:stCxn id="52" idx="6"/>
                <a:endCxn id="69" idx="1"/>
              </p:cNvCxnSpPr>
              <p:nvPr/>
            </p:nvCxnSpPr>
            <p:spPr>
              <a:xfrm flipV="1">
                <a:off x="4983036" y="2064273"/>
                <a:ext cx="1855490" cy="242594"/>
              </a:xfrm>
              <a:prstGeom prst="straightConnector1">
                <a:avLst/>
              </a:prstGeom>
              <a:ln>
                <a:solidFill>
                  <a:schemeClr val="bg1">
                    <a:lumMod val="85000"/>
                  </a:schemeClr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="" xmlns:a16="http://schemas.microsoft.com/office/drawing/2014/main" id="{08177A78-3D26-0357-7588-572473C2314C}"/>
                  </a:ext>
                </a:extLst>
              </p:cNvPr>
              <p:cNvCxnSpPr>
                <a:cxnSpLocks/>
                <a:stCxn id="49" idx="6"/>
                <a:endCxn id="72" idx="1"/>
              </p:cNvCxnSpPr>
              <p:nvPr/>
            </p:nvCxnSpPr>
            <p:spPr>
              <a:xfrm flipV="1">
                <a:off x="5236960" y="2760727"/>
                <a:ext cx="1601726" cy="104535"/>
              </a:xfrm>
              <a:prstGeom prst="straightConnector1">
                <a:avLst/>
              </a:prstGeom>
              <a:ln>
                <a:solidFill>
                  <a:schemeClr val="bg1">
                    <a:lumMod val="85000"/>
                  </a:schemeClr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="" xmlns:a16="http://schemas.microsoft.com/office/drawing/2014/main" id="{9A0253CB-2DA6-A060-F5C4-FC68B97E1A04}"/>
                  </a:ext>
                </a:extLst>
              </p:cNvPr>
              <p:cNvCxnSpPr>
                <a:cxnSpLocks/>
                <a:stCxn id="48" idx="6"/>
                <a:endCxn id="57" idx="1"/>
              </p:cNvCxnSpPr>
              <p:nvPr/>
            </p:nvCxnSpPr>
            <p:spPr>
              <a:xfrm>
                <a:off x="5338250" y="3456413"/>
                <a:ext cx="1500596" cy="769"/>
              </a:xfrm>
              <a:prstGeom prst="straightConnector1">
                <a:avLst/>
              </a:prstGeom>
              <a:ln>
                <a:solidFill>
                  <a:schemeClr val="bg1">
                    <a:lumMod val="85000"/>
                  </a:schemeClr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="" xmlns:a16="http://schemas.microsoft.com/office/drawing/2014/main" id="{86F260B4-0EE0-59BD-ADD4-5DDF52E1158E}"/>
                  </a:ext>
                </a:extLst>
              </p:cNvPr>
              <p:cNvCxnSpPr>
                <a:cxnSpLocks/>
                <a:stCxn id="50" idx="6"/>
                <a:endCxn id="60" idx="1"/>
              </p:cNvCxnSpPr>
              <p:nvPr/>
            </p:nvCxnSpPr>
            <p:spPr>
              <a:xfrm>
                <a:off x="5235466" y="4067753"/>
                <a:ext cx="1603540" cy="85884"/>
              </a:xfrm>
              <a:prstGeom prst="straightConnector1">
                <a:avLst/>
              </a:prstGeom>
              <a:ln>
                <a:solidFill>
                  <a:schemeClr val="bg1">
                    <a:lumMod val="85000"/>
                  </a:schemeClr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="" xmlns:a16="http://schemas.microsoft.com/office/drawing/2014/main" id="{254D8309-0722-03A3-B272-8176F862576F}"/>
                  </a:ext>
                </a:extLst>
              </p:cNvPr>
              <p:cNvCxnSpPr>
                <a:cxnSpLocks/>
                <a:stCxn id="53" idx="6"/>
                <a:endCxn id="63" idx="1"/>
              </p:cNvCxnSpPr>
              <p:nvPr/>
            </p:nvCxnSpPr>
            <p:spPr>
              <a:xfrm>
                <a:off x="4982290" y="4572556"/>
                <a:ext cx="1856876" cy="277536"/>
              </a:xfrm>
              <a:prstGeom prst="straightConnector1">
                <a:avLst/>
              </a:prstGeom>
              <a:ln>
                <a:solidFill>
                  <a:schemeClr val="bg1">
                    <a:lumMod val="85000"/>
                  </a:schemeClr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>
                <a:extLst>
                  <a:ext uri="{FF2B5EF4-FFF2-40B4-BE49-F238E27FC236}">
                    <a16:creationId xmlns="" xmlns:a16="http://schemas.microsoft.com/office/drawing/2014/main" id="{C41DA2A8-0589-9AB8-6D26-0D0A94152321}"/>
                  </a:ext>
                </a:extLst>
              </p:cNvPr>
              <p:cNvCxnSpPr>
                <a:cxnSpLocks/>
                <a:stCxn id="55" idx="6"/>
                <a:endCxn id="66" idx="1"/>
              </p:cNvCxnSpPr>
              <p:nvPr/>
            </p:nvCxnSpPr>
            <p:spPr>
              <a:xfrm>
                <a:off x="4569055" y="4991099"/>
                <a:ext cx="2270271" cy="555447"/>
              </a:xfrm>
              <a:prstGeom prst="straightConnector1">
                <a:avLst/>
              </a:prstGeom>
              <a:ln>
                <a:solidFill>
                  <a:schemeClr val="bg1">
                    <a:lumMod val="85000"/>
                  </a:schemeClr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6" name="Group 75">
                <a:extLst>
                  <a:ext uri="{FF2B5EF4-FFF2-40B4-BE49-F238E27FC236}">
                    <a16:creationId xmlns="" xmlns:a16="http://schemas.microsoft.com/office/drawing/2014/main" id="{D7026E0E-0534-1C14-E917-E16E72DF1B69}"/>
                  </a:ext>
                </a:extLst>
              </p:cNvPr>
              <p:cNvGrpSpPr/>
              <p:nvPr/>
            </p:nvGrpSpPr>
            <p:grpSpPr>
              <a:xfrm>
                <a:off x="6839487" y="1117786"/>
                <a:ext cx="3317055" cy="500064"/>
                <a:chOff x="5863829" y="1264443"/>
                <a:chExt cx="3317055" cy="500064"/>
              </a:xfrm>
            </p:grpSpPr>
            <p:sp>
              <p:nvSpPr>
                <p:cNvPr id="8" name="Arrow: Pentagon 7">
                  <a:extLst>
                    <a:ext uri="{FF2B5EF4-FFF2-40B4-BE49-F238E27FC236}">
                      <a16:creationId xmlns="" xmlns:a16="http://schemas.microsoft.com/office/drawing/2014/main" id="{51EF571F-CE2D-683A-309D-AF87C30E13B5}"/>
                    </a:ext>
                  </a:extLst>
                </p:cNvPr>
                <p:cNvSpPr/>
                <p:nvPr/>
              </p:nvSpPr>
              <p:spPr>
                <a:xfrm>
                  <a:off x="6108373" y="1264443"/>
                  <a:ext cx="3072511" cy="500062"/>
                </a:xfrm>
                <a:prstGeom prst="homePlate">
                  <a:avLst/>
                </a:prstGeom>
                <a:solidFill>
                  <a:srgbClr val="4E67C8">
                    <a:alpha val="5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274320" rtlCol="0" anchor="ctr"/>
                <a:lstStyle/>
                <a:p>
                  <a:r>
                    <a:rPr lang="en-US" sz="1600" dirty="0">
                      <a:solidFill>
                        <a:schemeClr val="tx1"/>
                      </a:solidFill>
                    </a:rPr>
                    <a:t>Introduction</a:t>
                  </a:r>
                  <a:endParaRPr lang="en-US" sz="8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" name="Diamond 8">
                  <a:extLst>
                    <a:ext uri="{FF2B5EF4-FFF2-40B4-BE49-F238E27FC236}">
                      <a16:creationId xmlns="" xmlns:a16="http://schemas.microsoft.com/office/drawing/2014/main" id="{F61FA72A-89EE-0CF6-6A3E-76DB25660BAC}"/>
                    </a:ext>
                  </a:extLst>
                </p:cNvPr>
                <p:cNvSpPr/>
                <p:nvPr/>
              </p:nvSpPr>
              <p:spPr>
                <a:xfrm>
                  <a:off x="5863829" y="1264444"/>
                  <a:ext cx="500063" cy="500063"/>
                </a:xfrm>
                <a:prstGeom prst="diamond">
                  <a:avLst/>
                </a:prstGeom>
                <a:solidFill>
                  <a:schemeClr val="accent1"/>
                </a:solidFill>
                <a:ln>
                  <a:noFill/>
                </a:ln>
                <a:effectLst>
                  <a:outerShdw blurRad="101600" dist="508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rtlCol="0" anchor="ctr"/>
                <a:lstStyle/>
                <a:p>
                  <a:pPr algn="ctr"/>
                  <a:r>
                    <a:rPr lang="en-US" sz="900" dirty="0"/>
                    <a:t>1</a:t>
                  </a:r>
                </a:p>
              </p:txBody>
            </p:sp>
          </p:grpSp>
          <p:sp>
            <p:nvSpPr>
              <p:cNvPr id="37" name="Oval 36">
                <a:extLst>
                  <a:ext uri="{FF2B5EF4-FFF2-40B4-BE49-F238E27FC236}">
                    <a16:creationId xmlns="" xmlns:a16="http://schemas.microsoft.com/office/drawing/2014/main" id="{2986C728-A37E-3667-6549-317527EFBE67}"/>
                  </a:ext>
                </a:extLst>
              </p:cNvPr>
              <p:cNvSpPr/>
              <p:nvPr/>
            </p:nvSpPr>
            <p:spPr>
              <a:xfrm>
                <a:off x="2964551" y="2487133"/>
                <a:ext cx="1914200" cy="2023443"/>
              </a:xfrm>
              <a:prstGeom prst="ellipse">
                <a:avLst/>
              </a:prstGeom>
              <a:gradFill>
                <a:gsLst>
                  <a:gs pos="0">
                    <a:schemeClr val="bg1"/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0"/>
              </a:gradFill>
              <a:ln w="57150"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500" dirty="0" smtClean="0">
                    <a:solidFill>
                      <a:schemeClr val="bg1">
                        <a:lumMod val="50000"/>
                      </a:schemeClr>
                    </a:solidFill>
                  </a:rPr>
                  <a:t>PLAN :</a:t>
                </a:r>
                <a:endParaRPr lang="en-US" sz="15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="" xmlns:a16="http://schemas.microsoft.com/office/drawing/2014/main" id="{C30D722B-90BB-45F2-980B-9C63BA1E314B}"/>
                  </a:ext>
                </a:extLst>
              </p:cNvPr>
              <p:cNvGrpSpPr/>
              <p:nvPr/>
            </p:nvGrpSpPr>
            <p:grpSpPr>
              <a:xfrm>
                <a:off x="1584661" y="1617850"/>
                <a:ext cx="3753589" cy="3622300"/>
                <a:chOff x="784012" y="1663759"/>
                <a:chExt cx="3753589" cy="3622300"/>
              </a:xfrm>
            </p:grpSpPr>
            <p:sp>
              <p:nvSpPr>
                <p:cNvPr id="43" name="Arc 42">
                  <a:extLst>
                    <a:ext uri="{FF2B5EF4-FFF2-40B4-BE49-F238E27FC236}">
                      <a16:creationId xmlns="" xmlns:a16="http://schemas.microsoft.com/office/drawing/2014/main" id="{EE1F343E-2E3F-82D1-D5EF-FB4EF892450A}"/>
                    </a:ext>
                  </a:extLst>
                </p:cNvPr>
                <p:cNvSpPr/>
                <p:nvPr/>
              </p:nvSpPr>
              <p:spPr>
                <a:xfrm>
                  <a:off x="784012" y="1663759"/>
                  <a:ext cx="3621024" cy="3622300"/>
                </a:xfrm>
                <a:prstGeom prst="arc">
                  <a:avLst>
                    <a:gd name="adj1" fmla="val 17378530"/>
                    <a:gd name="adj2" fmla="val 4347904"/>
                  </a:avLst>
                </a:prstGeom>
                <a:noFill/>
                <a:ln w="152400" cap="sq">
                  <a:solidFill>
                    <a:schemeClr val="bg1">
                      <a:lumMod val="9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="" xmlns:a16="http://schemas.microsoft.com/office/drawing/2014/main" id="{E91EE07F-CD21-E880-7D07-73561BEA20C3}"/>
                    </a:ext>
                  </a:extLst>
                </p:cNvPr>
                <p:cNvSpPr/>
                <p:nvPr/>
              </p:nvSpPr>
              <p:spPr>
                <a:xfrm>
                  <a:off x="4263281" y="3365162"/>
                  <a:ext cx="274320" cy="274320"/>
                </a:xfrm>
                <a:prstGeom prst="ellipse">
                  <a:avLst/>
                </a:prstGeom>
                <a:solidFill>
                  <a:schemeClr val="accent4"/>
                </a:solidFill>
                <a:ln w="38100">
                  <a:noFill/>
                </a:ln>
                <a:effectLst>
                  <a:outerShdw blurRad="101600" dist="508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="" xmlns:a16="http://schemas.microsoft.com/office/drawing/2014/main" id="{EE1B749C-6926-51BD-F85A-B5D259B78F54}"/>
                    </a:ext>
                  </a:extLst>
                </p:cNvPr>
                <p:cNvSpPr/>
                <p:nvPr/>
              </p:nvSpPr>
              <p:spPr>
                <a:xfrm>
                  <a:off x="4161991" y="2774011"/>
                  <a:ext cx="274320" cy="274320"/>
                </a:xfrm>
                <a:prstGeom prst="ellipse">
                  <a:avLst/>
                </a:prstGeom>
                <a:solidFill>
                  <a:schemeClr val="accent3"/>
                </a:solidFill>
                <a:ln w="38100">
                  <a:noFill/>
                </a:ln>
                <a:effectLst>
                  <a:outerShdw blurRad="101600" dist="508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="" xmlns:a16="http://schemas.microsoft.com/office/drawing/2014/main" id="{B57B8437-42CC-A15C-1BE1-BCCA4D064A7A}"/>
                    </a:ext>
                  </a:extLst>
                </p:cNvPr>
                <p:cNvSpPr/>
                <p:nvPr/>
              </p:nvSpPr>
              <p:spPr>
                <a:xfrm rot="507885">
                  <a:off x="4161991" y="3956312"/>
                  <a:ext cx="274320" cy="274320"/>
                </a:xfrm>
                <a:prstGeom prst="ellipse">
                  <a:avLst/>
                </a:prstGeom>
                <a:solidFill>
                  <a:srgbClr val="FE9202"/>
                </a:solidFill>
                <a:ln w="38100">
                  <a:noFill/>
                </a:ln>
                <a:effectLst>
                  <a:outerShdw blurRad="101600" dist="508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="" xmlns:a16="http://schemas.microsoft.com/office/drawing/2014/main" id="{03919C5A-0A6A-A3E4-710D-DD7E373D33C9}"/>
                    </a:ext>
                  </a:extLst>
                </p:cNvPr>
                <p:cNvSpPr/>
                <p:nvPr/>
              </p:nvSpPr>
              <p:spPr>
                <a:xfrm rot="20894768">
                  <a:off x="3910943" y="2243557"/>
                  <a:ext cx="274320" cy="274320"/>
                </a:xfrm>
                <a:prstGeom prst="ellipse">
                  <a:avLst/>
                </a:prstGeom>
                <a:solidFill>
                  <a:schemeClr val="accent2"/>
                </a:solidFill>
                <a:ln w="38100">
                  <a:noFill/>
                </a:ln>
                <a:effectLst>
                  <a:outerShdw blurRad="101600" dist="508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="" xmlns:a16="http://schemas.microsoft.com/office/drawing/2014/main" id="{23713DD0-255D-48F1-CBE4-6E35B310A860}"/>
                    </a:ext>
                  </a:extLst>
                </p:cNvPr>
                <p:cNvSpPr/>
                <p:nvPr/>
              </p:nvSpPr>
              <p:spPr>
                <a:xfrm rot="791779">
                  <a:off x="3910943" y="4449993"/>
                  <a:ext cx="274320" cy="274320"/>
                </a:xfrm>
                <a:prstGeom prst="ellipse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 w="38100">
                  <a:noFill/>
                </a:ln>
                <a:effectLst>
                  <a:outerShdw blurRad="101600" dist="508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="" xmlns:a16="http://schemas.microsoft.com/office/drawing/2014/main" id="{CD019291-C05A-209B-FAFA-E6DF438F5CAF}"/>
                    </a:ext>
                  </a:extLst>
                </p:cNvPr>
                <p:cNvSpPr/>
                <p:nvPr/>
              </p:nvSpPr>
              <p:spPr>
                <a:xfrm rot="20394665">
                  <a:off x="3508390" y="1841803"/>
                  <a:ext cx="274320" cy="274320"/>
                </a:xfrm>
                <a:prstGeom prst="ellipse">
                  <a:avLst/>
                </a:prstGeom>
                <a:ln w="38100">
                  <a:noFill/>
                </a:ln>
                <a:effectLst>
                  <a:outerShdw blurRad="101600" dist="508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="" xmlns:a16="http://schemas.microsoft.com/office/drawing/2014/main" id="{DA0E57B1-A3EB-7AE3-5860-5E3BB334AB99}"/>
                    </a:ext>
                  </a:extLst>
                </p:cNvPr>
                <p:cNvSpPr/>
                <p:nvPr/>
              </p:nvSpPr>
              <p:spPr>
                <a:xfrm rot="1197134">
                  <a:off x="3502319" y="4853044"/>
                  <a:ext cx="274320" cy="274320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 w="38100">
                  <a:noFill/>
                </a:ln>
                <a:effectLst>
                  <a:outerShdw blurRad="101600" dist="508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7" name="Group 46">
                <a:extLst>
                  <a:ext uri="{FF2B5EF4-FFF2-40B4-BE49-F238E27FC236}">
                    <a16:creationId xmlns="" xmlns:a16="http://schemas.microsoft.com/office/drawing/2014/main" id="{FF9C81C9-DABE-65CE-3773-B27F7F82C76C}"/>
                  </a:ext>
                </a:extLst>
              </p:cNvPr>
              <p:cNvGrpSpPr/>
              <p:nvPr/>
            </p:nvGrpSpPr>
            <p:grpSpPr>
              <a:xfrm>
                <a:off x="6838846" y="3207149"/>
                <a:ext cx="3317055" cy="500064"/>
                <a:chOff x="5863829" y="1264443"/>
                <a:chExt cx="3317055" cy="500064"/>
              </a:xfrm>
            </p:grpSpPr>
            <p:sp>
              <p:nvSpPr>
                <p:cNvPr id="51" name="Arrow: Pentagon 50">
                  <a:extLst>
                    <a:ext uri="{FF2B5EF4-FFF2-40B4-BE49-F238E27FC236}">
                      <a16:creationId xmlns="" xmlns:a16="http://schemas.microsoft.com/office/drawing/2014/main" id="{09137F93-3103-263B-2A35-F6FC834DF1CA}"/>
                    </a:ext>
                  </a:extLst>
                </p:cNvPr>
                <p:cNvSpPr/>
                <p:nvPr/>
              </p:nvSpPr>
              <p:spPr>
                <a:xfrm>
                  <a:off x="6108373" y="1264443"/>
                  <a:ext cx="3072511" cy="500062"/>
                </a:xfrm>
                <a:prstGeom prst="homePlate">
                  <a:avLst/>
                </a:prstGeom>
                <a:solidFill>
                  <a:schemeClr val="accent4"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274320" rtlCol="0" anchor="ctr"/>
                <a:lstStyle/>
                <a:p>
                  <a:r>
                    <a:rPr lang="en-US" sz="1200" dirty="0" err="1">
                      <a:solidFill>
                        <a:schemeClr val="tx1"/>
                      </a:solidFill>
                    </a:rPr>
                    <a:t>Cinématique</a:t>
                  </a:r>
                  <a:r>
                    <a:rPr lang="en-US" sz="1200" dirty="0">
                      <a:solidFill>
                        <a:schemeClr val="tx1"/>
                      </a:solidFill>
                    </a:rPr>
                    <a:t> du Robot (</a:t>
                  </a:r>
                  <a:r>
                    <a:rPr lang="en-US" sz="1200" dirty="0" err="1">
                      <a:solidFill>
                        <a:schemeClr val="tx1"/>
                      </a:solidFill>
                    </a:rPr>
                    <a:t>Formules</a:t>
                  </a:r>
                  <a:r>
                    <a:rPr lang="en-US" sz="1200" dirty="0" smtClean="0">
                      <a:solidFill>
                        <a:schemeClr val="tx1"/>
                      </a:solidFill>
                    </a:rPr>
                    <a:t>)</a:t>
                  </a:r>
                  <a:endParaRPr lang="en-US" sz="12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7" name="Diamond 56">
                  <a:extLst>
                    <a:ext uri="{FF2B5EF4-FFF2-40B4-BE49-F238E27FC236}">
                      <a16:creationId xmlns="" xmlns:a16="http://schemas.microsoft.com/office/drawing/2014/main" id="{35525207-3909-7D12-6690-E8A9E83F1486}"/>
                    </a:ext>
                  </a:extLst>
                </p:cNvPr>
                <p:cNvSpPr/>
                <p:nvPr/>
              </p:nvSpPr>
              <p:spPr>
                <a:xfrm>
                  <a:off x="5863829" y="1264444"/>
                  <a:ext cx="500063" cy="500063"/>
                </a:xfrm>
                <a:prstGeom prst="diamond">
                  <a:avLst/>
                </a:prstGeom>
                <a:solidFill>
                  <a:schemeClr val="accent4"/>
                </a:solidFill>
                <a:ln>
                  <a:noFill/>
                </a:ln>
                <a:effectLst>
                  <a:outerShdw blurRad="101600" dist="508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rtlCol="0" anchor="ctr"/>
                <a:lstStyle/>
                <a:p>
                  <a:pPr algn="ctr"/>
                  <a:r>
                    <a:rPr lang="en-US" sz="900" dirty="0"/>
                    <a:t>4</a:t>
                  </a:r>
                </a:p>
              </p:txBody>
            </p:sp>
          </p:grpSp>
          <p:grpSp>
            <p:nvGrpSpPr>
              <p:cNvPr id="58" name="Group 57">
                <a:extLst>
                  <a:ext uri="{FF2B5EF4-FFF2-40B4-BE49-F238E27FC236}">
                    <a16:creationId xmlns="" xmlns:a16="http://schemas.microsoft.com/office/drawing/2014/main" id="{DC1495F4-95E7-2F70-CAEB-FA17FBF3FDE2}"/>
                  </a:ext>
                </a:extLst>
              </p:cNvPr>
              <p:cNvGrpSpPr/>
              <p:nvPr/>
            </p:nvGrpSpPr>
            <p:grpSpPr>
              <a:xfrm>
                <a:off x="6839006" y="3903604"/>
                <a:ext cx="3317055" cy="500064"/>
                <a:chOff x="5863829" y="1264443"/>
                <a:chExt cx="3317055" cy="500064"/>
              </a:xfrm>
            </p:grpSpPr>
            <p:sp>
              <p:nvSpPr>
                <p:cNvPr id="59" name="Arrow: Pentagon 58">
                  <a:extLst>
                    <a:ext uri="{FF2B5EF4-FFF2-40B4-BE49-F238E27FC236}">
                      <a16:creationId xmlns="" xmlns:a16="http://schemas.microsoft.com/office/drawing/2014/main" id="{9B09552D-242F-4CEC-A3DB-9007EDC2D383}"/>
                    </a:ext>
                  </a:extLst>
                </p:cNvPr>
                <p:cNvSpPr/>
                <p:nvPr/>
              </p:nvSpPr>
              <p:spPr>
                <a:xfrm>
                  <a:off x="6108373" y="1264443"/>
                  <a:ext cx="3072511" cy="500062"/>
                </a:xfrm>
                <a:prstGeom prst="homePlate">
                  <a:avLst/>
                </a:prstGeom>
                <a:solidFill>
                  <a:schemeClr val="accent6">
                    <a:lumMod val="60000"/>
                    <a:lumOff val="40000"/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274320" rtlCol="0" anchor="ctr"/>
                <a:lstStyle/>
                <a:p>
                  <a:r>
                    <a:rPr lang="fr-FR" sz="1400" dirty="0">
                      <a:solidFill>
                        <a:schemeClr val="tx1"/>
                      </a:solidFill>
                    </a:rPr>
                    <a:t>Logique de Suivi de </a:t>
                  </a:r>
                  <a:r>
                    <a:rPr lang="fr-FR" sz="1400" dirty="0" smtClean="0">
                      <a:solidFill>
                        <a:schemeClr val="tx1"/>
                      </a:solidFill>
                    </a:rPr>
                    <a:t>Ligne</a:t>
                  </a:r>
                  <a:endParaRPr lang="fr-FR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0" name="Diamond 59">
                  <a:extLst>
                    <a:ext uri="{FF2B5EF4-FFF2-40B4-BE49-F238E27FC236}">
                      <a16:creationId xmlns="" xmlns:a16="http://schemas.microsoft.com/office/drawing/2014/main" id="{5F271A28-6CB9-2674-D4F3-9184B84371E0}"/>
                    </a:ext>
                  </a:extLst>
                </p:cNvPr>
                <p:cNvSpPr/>
                <p:nvPr/>
              </p:nvSpPr>
              <p:spPr>
                <a:xfrm>
                  <a:off x="5863829" y="1264444"/>
                  <a:ext cx="500063" cy="500063"/>
                </a:xfrm>
                <a:prstGeom prst="diamond">
                  <a:avLst/>
                </a:prstGeom>
                <a:solidFill>
                  <a:srgbClr val="FE9202"/>
                </a:solidFill>
                <a:ln>
                  <a:noFill/>
                </a:ln>
                <a:effectLst>
                  <a:outerShdw blurRad="101600" dist="508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rtlCol="0" anchor="ctr"/>
                <a:lstStyle/>
                <a:p>
                  <a:pPr algn="ctr"/>
                  <a:r>
                    <a:rPr lang="en-US" sz="900" dirty="0"/>
                    <a:t>5</a:t>
                  </a:r>
                </a:p>
              </p:txBody>
            </p:sp>
          </p:grpSp>
          <p:grpSp>
            <p:nvGrpSpPr>
              <p:cNvPr id="61" name="Group 60">
                <a:extLst>
                  <a:ext uri="{FF2B5EF4-FFF2-40B4-BE49-F238E27FC236}">
                    <a16:creationId xmlns="" xmlns:a16="http://schemas.microsoft.com/office/drawing/2014/main" id="{3E3412A4-02C3-B225-0B34-BF512C3B5E61}"/>
                  </a:ext>
                </a:extLst>
              </p:cNvPr>
              <p:cNvGrpSpPr/>
              <p:nvPr/>
            </p:nvGrpSpPr>
            <p:grpSpPr>
              <a:xfrm>
                <a:off x="6839166" y="4600059"/>
                <a:ext cx="3317055" cy="500064"/>
                <a:chOff x="5863829" y="1264443"/>
                <a:chExt cx="3317055" cy="500064"/>
              </a:xfrm>
            </p:grpSpPr>
            <p:sp>
              <p:nvSpPr>
                <p:cNvPr id="62" name="Arrow: Pentagon 61">
                  <a:extLst>
                    <a:ext uri="{FF2B5EF4-FFF2-40B4-BE49-F238E27FC236}">
                      <a16:creationId xmlns="" xmlns:a16="http://schemas.microsoft.com/office/drawing/2014/main" id="{24AEAF1A-B0A6-4B9D-469B-CF77B76D5CE6}"/>
                    </a:ext>
                  </a:extLst>
                </p:cNvPr>
                <p:cNvSpPr/>
                <p:nvPr/>
              </p:nvSpPr>
              <p:spPr>
                <a:xfrm>
                  <a:off x="6108373" y="1264443"/>
                  <a:ext cx="3072511" cy="500062"/>
                </a:xfrm>
                <a:prstGeom prst="homePlate">
                  <a:avLst/>
                </a:prstGeom>
                <a:solidFill>
                  <a:schemeClr val="accent4">
                    <a:lumMod val="40000"/>
                    <a:lumOff val="60000"/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274320" rtlCol="0" anchor="ctr"/>
                <a:lstStyle/>
                <a:p>
                  <a:r>
                    <a:rPr lang="en-US" sz="1400" dirty="0" err="1">
                      <a:solidFill>
                        <a:schemeClr val="tx1"/>
                      </a:solidFill>
                    </a:rPr>
                    <a:t>Logique</a:t>
                  </a:r>
                  <a:r>
                    <a:rPr lang="en-US" sz="1400" dirty="0">
                      <a:solidFill>
                        <a:schemeClr val="tx1"/>
                      </a:solidFill>
                    </a:rPr>
                    <a:t> de </a:t>
                  </a:r>
                  <a:r>
                    <a:rPr lang="en-US" sz="1400" dirty="0" err="1">
                      <a:solidFill>
                        <a:schemeClr val="tx1"/>
                      </a:solidFill>
                    </a:rPr>
                    <a:t>Contrôle</a:t>
                  </a:r>
                  <a:r>
                    <a:rPr lang="en-US" sz="1400" dirty="0">
                      <a:solidFill>
                        <a:schemeClr val="tx1"/>
                      </a:solidFill>
                    </a:rPr>
                    <a:t> </a:t>
                  </a:r>
                </a:p>
              </p:txBody>
            </p:sp>
            <p:sp>
              <p:nvSpPr>
                <p:cNvPr id="63" name="Diamond 62">
                  <a:extLst>
                    <a:ext uri="{FF2B5EF4-FFF2-40B4-BE49-F238E27FC236}">
                      <a16:creationId xmlns="" xmlns:a16="http://schemas.microsoft.com/office/drawing/2014/main" id="{4429C93F-A685-2008-03D9-70C22D75F387}"/>
                    </a:ext>
                  </a:extLst>
                </p:cNvPr>
                <p:cNvSpPr/>
                <p:nvPr/>
              </p:nvSpPr>
              <p:spPr>
                <a:xfrm>
                  <a:off x="5863829" y="1264444"/>
                  <a:ext cx="500063" cy="500063"/>
                </a:xfrm>
                <a:prstGeom prst="diamond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noFill/>
                </a:ln>
                <a:effectLst>
                  <a:outerShdw blurRad="101600" dist="508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rtlCol="0" anchor="ctr"/>
                <a:lstStyle/>
                <a:p>
                  <a:pPr algn="ctr"/>
                  <a:r>
                    <a:rPr lang="en-US" sz="900" dirty="0"/>
                    <a:t>6</a:t>
                  </a:r>
                </a:p>
              </p:txBody>
            </p:sp>
          </p:grpSp>
          <p:grpSp>
            <p:nvGrpSpPr>
              <p:cNvPr id="64" name="Group 63">
                <a:extLst>
                  <a:ext uri="{FF2B5EF4-FFF2-40B4-BE49-F238E27FC236}">
                    <a16:creationId xmlns="" xmlns:a16="http://schemas.microsoft.com/office/drawing/2014/main" id="{A9F6E075-C834-FA46-0FD2-94195D117D49}"/>
                  </a:ext>
                </a:extLst>
              </p:cNvPr>
              <p:cNvGrpSpPr/>
              <p:nvPr/>
            </p:nvGrpSpPr>
            <p:grpSpPr>
              <a:xfrm>
                <a:off x="6839326" y="5296513"/>
                <a:ext cx="3317055" cy="500064"/>
                <a:chOff x="5863829" y="1264443"/>
                <a:chExt cx="3317055" cy="500064"/>
              </a:xfrm>
            </p:grpSpPr>
            <p:sp>
              <p:nvSpPr>
                <p:cNvPr id="65" name="Arrow: Pentagon 64">
                  <a:extLst>
                    <a:ext uri="{FF2B5EF4-FFF2-40B4-BE49-F238E27FC236}">
                      <a16:creationId xmlns="" xmlns:a16="http://schemas.microsoft.com/office/drawing/2014/main" id="{63184BC0-116E-D5BE-7548-FB83E8F811E8}"/>
                    </a:ext>
                  </a:extLst>
                </p:cNvPr>
                <p:cNvSpPr/>
                <p:nvPr/>
              </p:nvSpPr>
              <p:spPr>
                <a:xfrm>
                  <a:off x="6108373" y="1264443"/>
                  <a:ext cx="3072511" cy="500062"/>
                </a:xfrm>
                <a:prstGeom prst="homePlate">
                  <a:avLst/>
                </a:prstGeom>
                <a:solidFill>
                  <a:schemeClr val="bg1">
                    <a:lumMod val="50000"/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274320" rtlCol="0" anchor="ctr"/>
                <a:lstStyle/>
                <a:p>
                  <a:r>
                    <a:rPr lang="fr-FR" sz="1200" dirty="0">
                      <a:solidFill>
                        <a:schemeClr val="tx1"/>
                      </a:solidFill>
                    </a:rPr>
                    <a:t>Modélisation des Capteurs et </a:t>
                  </a:r>
                  <a:r>
                    <a:rPr lang="fr-FR" sz="1200" dirty="0" err="1" smtClean="0">
                      <a:solidFill>
                        <a:schemeClr val="tx1"/>
                      </a:solidFill>
                    </a:rPr>
                    <a:t>Contrôl</a:t>
                  </a:r>
                  <a:endParaRPr lang="fr-FR" sz="12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6" name="Diamond 65">
                  <a:extLst>
                    <a:ext uri="{FF2B5EF4-FFF2-40B4-BE49-F238E27FC236}">
                      <a16:creationId xmlns="" xmlns:a16="http://schemas.microsoft.com/office/drawing/2014/main" id="{BC4DBA1E-F16B-28DC-4615-64338DBA3319}"/>
                    </a:ext>
                  </a:extLst>
                </p:cNvPr>
                <p:cNvSpPr/>
                <p:nvPr/>
              </p:nvSpPr>
              <p:spPr>
                <a:xfrm>
                  <a:off x="5863829" y="1264444"/>
                  <a:ext cx="500063" cy="500063"/>
                </a:xfrm>
                <a:prstGeom prst="diamond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  <a:effectLst>
                  <a:outerShdw blurRad="101600" dist="508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91440" rtlCol="0" anchor="ctr"/>
                <a:lstStyle/>
                <a:p>
                  <a:pPr algn="ctr"/>
                  <a:r>
                    <a:rPr lang="en-US" sz="900" dirty="0"/>
                    <a:t>7</a:t>
                  </a:r>
                </a:p>
              </p:txBody>
            </p:sp>
          </p:grpSp>
          <p:grpSp>
            <p:nvGrpSpPr>
              <p:cNvPr id="67" name="Group 66">
                <a:extLst>
                  <a:ext uri="{FF2B5EF4-FFF2-40B4-BE49-F238E27FC236}">
                    <a16:creationId xmlns="" xmlns:a16="http://schemas.microsoft.com/office/drawing/2014/main" id="{1237B51E-FB28-A84E-35B4-FCB945075705}"/>
                  </a:ext>
                </a:extLst>
              </p:cNvPr>
              <p:cNvGrpSpPr/>
              <p:nvPr/>
            </p:nvGrpSpPr>
            <p:grpSpPr>
              <a:xfrm>
                <a:off x="6838526" y="1814240"/>
                <a:ext cx="3317055" cy="500064"/>
                <a:chOff x="5863829" y="1264443"/>
                <a:chExt cx="3317055" cy="500064"/>
              </a:xfrm>
            </p:grpSpPr>
            <p:sp>
              <p:nvSpPr>
                <p:cNvPr id="68" name="Arrow: Pentagon 67">
                  <a:extLst>
                    <a:ext uri="{FF2B5EF4-FFF2-40B4-BE49-F238E27FC236}">
                      <a16:creationId xmlns="" xmlns:a16="http://schemas.microsoft.com/office/drawing/2014/main" id="{36076FCB-9888-6A1C-F35E-3245031561CB}"/>
                    </a:ext>
                  </a:extLst>
                </p:cNvPr>
                <p:cNvSpPr/>
                <p:nvPr/>
              </p:nvSpPr>
              <p:spPr>
                <a:xfrm>
                  <a:off x="6108373" y="1264443"/>
                  <a:ext cx="3072511" cy="500062"/>
                </a:xfrm>
                <a:prstGeom prst="homePlate">
                  <a:avLst/>
                </a:prstGeom>
                <a:solidFill>
                  <a:schemeClr val="accent2">
                    <a:alpha val="50000"/>
                  </a:schemeClr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274320" rtlCol="0" anchor="ctr"/>
                <a:lstStyle/>
                <a:p>
                  <a:r>
                    <a:rPr lang="fr-FR" sz="1400" dirty="0">
                      <a:solidFill>
                        <a:schemeClr val="tx1"/>
                      </a:solidFill>
                    </a:rPr>
                    <a:t>Principe de Fonctionnement (Capteurs IR</a:t>
                  </a:r>
                  <a:r>
                    <a:rPr lang="fr-FR" sz="1400" dirty="0" smtClean="0">
                      <a:solidFill>
                        <a:schemeClr val="tx1"/>
                      </a:solidFill>
                    </a:rPr>
                    <a:t>)</a:t>
                  </a:r>
                  <a:endParaRPr lang="fr-FR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9" name="Diamond 68">
                  <a:extLst>
                    <a:ext uri="{FF2B5EF4-FFF2-40B4-BE49-F238E27FC236}">
                      <a16:creationId xmlns="" xmlns:a16="http://schemas.microsoft.com/office/drawing/2014/main" id="{CB3E83A8-2FBF-B1AB-97CC-5CE0B43A8334}"/>
                    </a:ext>
                  </a:extLst>
                </p:cNvPr>
                <p:cNvSpPr/>
                <p:nvPr/>
              </p:nvSpPr>
              <p:spPr>
                <a:xfrm>
                  <a:off x="5863829" y="1264444"/>
                  <a:ext cx="500063" cy="500063"/>
                </a:xfrm>
                <a:prstGeom prst="diamond">
                  <a:avLst/>
                </a:prstGeom>
                <a:solidFill>
                  <a:schemeClr val="accent2"/>
                </a:solidFill>
                <a:ln>
                  <a:noFill/>
                </a:ln>
                <a:effectLst>
                  <a:outerShdw blurRad="101600" dist="508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91440" rtlCol="0" anchor="ctr"/>
                <a:lstStyle/>
                <a:p>
                  <a:pPr algn="ctr"/>
                  <a:r>
                    <a:rPr lang="en-US" sz="900" dirty="0"/>
                    <a:t>2</a:t>
                  </a:r>
                </a:p>
              </p:txBody>
            </p:sp>
          </p:grpSp>
          <p:grpSp>
            <p:nvGrpSpPr>
              <p:cNvPr id="70" name="Group 69">
                <a:extLst>
                  <a:ext uri="{FF2B5EF4-FFF2-40B4-BE49-F238E27FC236}">
                    <a16:creationId xmlns="" xmlns:a16="http://schemas.microsoft.com/office/drawing/2014/main" id="{95E878F5-3A6D-A99F-10DF-1CE3DC0E2C65}"/>
                  </a:ext>
                </a:extLst>
              </p:cNvPr>
              <p:cNvGrpSpPr/>
              <p:nvPr/>
            </p:nvGrpSpPr>
            <p:grpSpPr>
              <a:xfrm>
                <a:off x="6838686" y="2510694"/>
                <a:ext cx="3317055" cy="500064"/>
                <a:chOff x="5863829" y="1264443"/>
                <a:chExt cx="3317055" cy="500064"/>
              </a:xfrm>
            </p:grpSpPr>
            <p:sp>
              <p:nvSpPr>
                <p:cNvPr id="71" name="Arrow: Pentagon 70">
                  <a:extLst>
                    <a:ext uri="{FF2B5EF4-FFF2-40B4-BE49-F238E27FC236}">
                      <a16:creationId xmlns="" xmlns:a16="http://schemas.microsoft.com/office/drawing/2014/main" id="{B59C56B9-CD5C-6086-424C-1E2690F4F83A}"/>
                    </a:ext>
                  </a:extLst>
                </p:cNvPr>
                <p:cNvSpPr/>
                <p:nvPr/>
              </p:nvSpPr>
              <p:spPr>
                <a:xfrm>
                  <a:off x="6108373" y="1264443"/>
                  <a:ext cx="3072511" cy="500062"/>
                </a:xfrm>
                <a:prstGeom prst="homePlate">
                  <a:avLst/>
                </a:prstGeom>
                <a:solidFill>
                  <a:schemeClr val="accent3"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274320" rtlCol="0" anchor="ctr"/>
                <a:lstStyle/>
                <a:p>
                  <a:r>
                    <a:rPr lang="fr-FR" sz="1200" dirty="0">
                      <a:solidFill>
                        <a:schemeClr val="tx1"/>
                      </a:solidFill>
                    </a:rPr>
                    <a:t>Réglage des Moteurs en Fonction des </a:t>
                  </a:r>
                  <a:r>
                    <a:rPr lang="fr-FR" sz="1200" dirty="0" smtClean="0">
                      <a:solidFill>
                        <a:schemeClr val="tx1"/>
                      </a:solidFill>
                    </a:rPr>
                    <a:t>Capteurs</a:t>
                  </a:r>
                  <a:endParaRPr lang="fr-FR" sz="12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2" name="Diamond 71">
                  <a:extLst>
                    <a:ext uri="{FF2B5EF4-FFF2-40B4-BE49-F238E27FC236}">
                      <a16:creationId xmlns="" xmlns:a16="http://schemas.microsoft.com/office/drawing/2014/main" id="{B56614D9-27C2-4739-9125-1B0F595FB677}"/>
                    </a:ext>
                  </a:extLst>
                </p:cNvPr>
                <p:cNvSpPr/>
                <p:nvPr/>
              </p:nvSpPr>
              <p:spPr>
                <a:xfrm>
                  <a:off x="5863829" y="1264444"/>
                  <a:ext cx="500063" cy="500063"/>
                </a:xfrm>
                <a:prstGeom prst="diamond">
                  <a:avLst/>
                </a:prstGeom>
                <a:solidFill>
                  <a:schemeClr val="accent3"/>
                </a:solidFill>
                <a:ln>
                  <a:noFill/>
                </a:ln>
                <a:effectLst>
                  <a:outerShdw blurRad="101600" dist="50800" dir="10800000" algn="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91440" rtlCol="0" anchor="ctr"/>
                <a:lstStyle/>
                <a:p>
                  <a:pPr algn="ctr"/>
                  <a:r>
                    <a:rPr lang="en-US" sz="900" dirty="0"/>
                    <a:t>3</a:t>
                  </a:r>
                </a:p>
              </p:txBody>
            </p:sp>
          </p:grpSp>
        </p:grpSp>
        <p:grpSp>
          <p:nvGrpSpPr>
            <p:cNvPr id="10" name="Groupe 9"/>
            <p:cNvGrpSpPr/>
            <p:nvPr/>
          </p:nvGrpSpPr>
          <p:grpSpPr>
            <a:xfrm>
              <a:off x="1916093" y="3463925"/>
              <a:ext cx="4201260" cy="1162627"/>
              <a:chOff x="1916093" y="3463925"/>
              <a:chExt cx="4201260" cy="1162627"/>
            </a:xfrm>
          </p:grpSpPr>
          <p:sp>
            <p:nvSpPr>
              <p:cNvPr id="73" name="Arrow: Pentagon 58">
                <a:extLst>
                  <a:ext uri="{FF2B5EF4-FFF2-40B4-BE49-F238E27FC236}">
                    <a16:creationId xmlns="" xmlns:a16="http://schemas.microsoft.com/office/drawing/2014/main" id="{9B09552D-242F-4CEC-A3DB-9007EDC2D383}"/>
                  </a:ext>
                </a:extLst>
              </p:cNvPr>
              <p:cNvSpPr/>
              <p:nvPr/>
            </p:nvSpPr>
            <p:spPr>
              <a:xfrm>
                <a:off x="4060341" y="4251505"/>
                <a:ext cx="2057012" cy="375047"/>
              </a:xfrm>
              <a:prstGeom prst="homePlat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lIns="274320" rtlCol="0" anchor="ctr"/>
              <a:lstStyle/>
              <a:p>
                <a:r>
                  <a:rPr lang="fr-FR" sz="1400" dirty="0">
                    <a:solidFill>
                      <a:schemeClr val="tx1"/>
                    </a:solidFill>
                  </a:rPr>
                  <a:t>Explications de code Python</a:t>
                </a:r>
                <a:endParaRPr lang="fr-FR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4" name="Diamond 59">
                <a:extLst>
                  <a:ext uri="{FF2B5EF4-FFF2-40B4-BE49-F238E27FC236}">
                    <a16:creationId xmlns="" xmlns:a16="http://schemas.microsoft.com/office/drawing/2014/main" id="{5F271A28-6CB9-2674-D4F3-9184B84371E0}"/>
                  </a:ext>
                </a:extLst>
              </p:cNvPr>
              <p:cNvSpPr/>
              <p:nvPr/>
            </p:nvSpPr>
            <p:spPr>
              <a:xfrm>
                <a:off x="3889274" y="4251505"/>
                <a:ext cx="334787" cy="375047"/>
              </a:xfrm>
              <a:prstGeom prst="diamond">
                <a:avLst/>
              </a:prstGeom>
              <a:solidFill>
                <a:schemeClr val="accent5"/>
              </a:solidFill>
              <a:ln>
                <a:noFill/>
              </a:ln>
              <a:effectLst>
                <a:outerShdw blurRad="101600" dist="508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rtlCol="0" anchor="ctr"/>
              <a:lstStyle/>
              <a:p>
                <a:pPr algn="ctr"/>
                <a:r>
                  <a:rPr lang="en-US" sz="900" dirty="0"/>
                  <a:t>8</a:t>
                </a:r>
              </a:p>
            </p:txBody>
          </p:sp>
          <p:sp>
            <p:nvSpPr>
              <p:cNvPr id="77" name="Oval 49">
                <a:extLst>
                  <a:ext uri="{FF2B5EF4-FFF2-40B4-BE49-F238E27FC236}">
                    <a16:creationId xmlns="" xmlns:a16="http://schemas.microsoft.com/office/drawing/2014/main" id="{B57B8437-42CC-A15C-1BE1-BCCA4D064A7A}"/>
                  </a:ext>
                </a:extLst>
              </p:cNvPr>
              <p:cNvSpPr/>
              <p:nvPr/>
            </p:nvSpPr>
            <p:spPr>
              <a:xfrm rot="507885">
                <a:off x="1916093" y="3463925"/>
                <a:ext cx="183654" cy="205740"/>
              </a:xfrm>
              <a:prstGeom prst="ellipse">
                <a:avLst/>
              </a:prstGeom>
              <a:solidFill>
                <a:schemeClr val="accent5"/>
              </a:solidFill>
              <a:ln w="38100">
                <a:noFill/>
              </a:ln>
              <a:effectLst>
                <a:outerShdw blurRad="101600" dist="50800" dir="10800000" algn="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8" name="Straight Arrow Connector 98">
                <a:extLst>
                  <a:ext uri="{FF2B5EF4-FFF2-40B4-BE49-F238E27FC236}">
                    <a16:creationId xmlns="" xmlns:a16="http://schemas.microsoft.com/office/drawing/2014/main" id="{C41DA2A8-0589-9AB8-6D26-0D0A94152321}"/>
                  </a:ext>
                </a:extLst>
              </p:cNvPr>
              <p:cNvCxnSpPr>
                <a:cxnSpLocks/>
                <a:endCxn id="74" idx="1"/>
              </p:cNvCxnSpPr>
              <p:nvPr/>
            </p:nvCxnSpPr>
            <p:spPr>
              <a:xfrm>
                <a:off x="2074256" y="3644015"/>
                <a:ext cx="1815018" cy="795014"/>
              </a:xfrm>
              <a:prstGeom prst="straightConnector1">
                <a:avLst/>
              </a:prstGeom>
              <a:ln>
                <a:solidFill>
                  <a:schemeClr val="bg1">
                    <a:lumMod val="85000"/>
                  </a:schemeClr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386976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547" y="400254"/>
            <a:ext cx="6184553" cy="763524"/>
          </a:xfrm>
        </p:spPr>
        <p:txBody>
          <a:bodyPr>
            <a:normAutofit/>
          </a:bodyPr>
          <a:lstStyle/>
          <a:p>
            <a:r>
              <a:rPr lang="fr-FR" b="1" dirty="0">
                <a:latin typeface="Times New Roman" pitchFamily="18" charset="0"/>
                <a:cs typeface="Times New Roman" pitchFamily="18" charset="0"/>
              </a:rPr>
              <a:t>Introduction :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6234" y="2113635"/>
            <a:ext cx="3161766" cy="2443280"/>
          </a:xfrm>
        </p:spPr>
        <p:txBody>
          <a:bodyPr/>
          <a:lstStyle/>
          <a:p>
            <a:pPr marL="0" indent="0">
              <a:buNone/>
            </a:pPr>
            <a:r>
              <a:rPr lang="fr-FR" b="1" dirty="0">
                <a:latin typeface="Times New Roman" pitchFamily="18" charset="0"/>
                <a:cs typeface="Times New Roman" pitchFamily="18" charset="0"/>
              </a:rPr>
              <a:t>Objectif du robot suiveur de ligne :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 Suivre une ligne prédéfinie de manière autonome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Importance </a:t>
            </a:r>
            <a:r>
              <a:rPr lang="fr-FR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 Application dans la robotique éducative et industrielle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C:\Users\Abder\Downloads\WhatsApp Image 2025-01-15 at 18.38.02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50110"/>
            <a:ext cx="3581705" cy="3793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>
                <a:latin typeface="Times New Roman" pitchFamily="18" charset="0"/>
                <a:cs typeface="Times New Roman" pitchFamily="18" charset="0"/>
              </a:rPr>
              <a:t>Principe de Fonctionnement (Capteurs IR)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fr-FR" b="1" dirty="0">
                <a:latin typeface="Times New Roman" pitchFamily="18" charset="0"/>
                <a:cs typeface="Times New Roman" pitchFamily="18" charset="0"/>
              </a:rPr>
              <a:t>Capteurs IR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 : Les capteurs infrarouges émettent de la lumière et mesurent la quantité de lumière réfléchie par la surface sous le robot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Surfaces </a:t>
            </a:r>
            <a:r>
              <a:rPr lang="fr-FR" b="1" dirty="0">
                <a:latin typeface="Times New Roman" pitchFamily="18" charset="0"/>
                <a:cs typeface="Times New Roman" pitchFamily="18" charset="0"/>
              </a:rPr>
              <a:t>sombres (ligne)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 : Les surfaces sombres (comme la ligne noire) réfléchissent moins de lumière, ce qui est détecté par les capteurs IR comme une faible valeur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fr-FR" b="1" dirty="0" smtClean="0">
                <a:latin typeface="Times New Roman" pitchFamily="18" charset="0"/>
                <a:cs typeface="Times New Roman" pitchFamily="18" charset="0"/>
              </a:rPr>
              <a:t>Surfaces </a:t>
            </a:r>
            <a:r>
              <a:rPr lang="fr-FR" b="1" dirty="0">
                <a:latin typeface="Times New Roman" pitchFamily="18" charset="0"/>
                <a:cs typeface="Times New Roman" pitchFamily="18" charset="0"/>
              </a:rPr>
              <a:t>claires (fond)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 : Les surfaces claires (comme le fond blanc) réfléchissent plus de lumière, ce qui est détecté par les capteurs comme une valeur plus élevée.</a:t>
            </a:r>
            <a:endParaRPr lang="fr-FR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8153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>
                <a:latin typeface="Times New Roman" pitchFamily="18" charset="0"/>
                <a:cs typeface="Times New Roman" pitchFamily="18" charset="0"/>
              </a:rPr>
              <a:t>Principe de Fonctionnement (Capteurs IR)</a:t>
            </a:r>
            <a:endParaRPr lang="fr-F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Réflexion 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de la Lumière sur Différentes Surfaces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015" y="2113635"/>
            <a:ext cx="5134351" cy="2571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1777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>
                <a:latin typeface="Times New Roman" pitchFamily="18" charset="0"/>
                <a:cs typeface="Times New Roman" pitchFamily="18" charset="0"/>
              </a:rPr>
              <a:t>Réglage des Moteurs en Fonction des Capteurs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b="1" dirty="0">
                <a:latin typeface="Times New Roman" pitchFamily="18" charset="0"/>
                <a:cs typeface="Times New Roman" pitchFamily="18" charset="0"/>
              </a:rPr>
              <a:t>Moteurs gauche et droit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 : Contrôlent la direction du 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robot Moteur 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gauche pour la roue gauche, moteur droit pour la roue droite.</a:t>
            </a:r>
          </a:p>
          <a:p>
            <a:r>
              <a:rPr lang="fr-FR" b="1" dirty="0">
                <a:latin typeface="Times New Roman" pitchFamily="18" charset="0"/>
                <a:cs typeface="Times New Roman" pitchFamily="18" charset="0"/>
              </a:rPr>
              <a:t>Ajustement des vitesses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Si 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le robot dévie à gauche, la vitesse du moteur droit augmente pour tourner à droite.</a:t>
            </a:r>
          </a:p>
          <a:p>
            <a:r>
              <a:rPr lang="fr-FR" dirty="0">
                <a:latin typeface="Times New Roman" pitchFamily="18" charset="0"/>
                <a:cs typeface="Times New Roman" pitchFamily="18" charset="0"/>
              </a:rPr>
              <a:t>Si le robot dévie à droite, la vitesse du moteur gauche augmente pour tourner à gauche.</a:t>
            </a:r>
          </a:p>
          <a:p>
            <a:r>
              <a:rPr lang="fr-FR" b="1" dirty="0">
                <a:latin typeface="Times New Roman" pitchFamily="18" charset="0"/>
                <a:cs typeface="Times New Roman" pitchFamily="18" charset="0"/>
              </a:rPr>
              <a:t>Capteurs IR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 : Mesurent la lumière réfléchie et ajustent les vitesses des moteurs en fonction de la position du robot par rapport à la ligne.</a:t>
            </a:r>
          </a:p>
        </p:txBody>
      </p:sp>
    </p:spTree>
    <p:extLst>
      <p:ext uri="{BB962C8B-B14F-4D97-AF65-F5344CB8AC3E}">
        <p14:creationId xmlns:p14="http://schemas.microsoft.com/office/powerpoint/2010/main" val="1296456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latin typeface="Times New Roman" pitchFamily="18" charset="0"/>
                <a:cs typeface="Times New Roman" pitchFamily="18" charset="0"/>
              </a:rPr>
              <a:t>Cinématique du Robot (Formules)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latin typeface="Times New Roman" pitchFamily="18" charset="0"/>
                <a:cs typeface="Times New Roman" pitchFamily="18" charset="0"/>
              </a:rPr>
              <a:t>Vitesse </a:t>
            </a: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linéaire</a:t>
            </a:r>
          </a:p>
          <a:p>
            <a:endParaRPr lang="fr-FR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endParaRPr lang="fr-FR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fr-FR" dirty="0" smtClean="0">
                <a:latin typeface="Times New Roman" pitchFamily="18" charset="0"/>
                <a:cs typeface="Times New Roman" pitchFamily="18" charset="0"/>
              </a:rPr>
              <a:t>Vitesse 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angulaire </a:t>
            </a:r>
            <a:endParaRPr lang="fr-FR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fr-FR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6715" y="2113635"/>
            <a:ext cx="3187700" cy="61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0" y="3793390"/>
            <a:ext cx="3162300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14807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latin typeface="Times New Roman" pitchFamily="18" charset="0"/>
                <a:cs typeface="Times New Roman" pitchFamily="18" charset="0"/>
              </a:rPr>
              <a:t>Logique de Suivi de Ligne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>
                <a:latin typeface="Times New Roman" pitchFamily="18" charset="0"/>
                <a:cs typeface="Times New Roman" pitchFamily="18" charset="0"/>
              </a:rPr>
              <a:t>Si le robot dévie :</a:t>
            </a:r>
          </a:p>
          <a:p>
            <a:pPr lvl="1"/>
            <a:r>
              <a:rPr lang="fr-FR" b="1" dirty="0">
                <a:latin typeface="Times New Roman" pitchFamily="18" charset="0"/>
                <a:cs typeface="Times New Roman" pitchFamily="18" charset="0"/>
              </a:rPr>
              <a:t>Trop à gauche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 → Ajustement vers la droite.</a:t>
            </a:r>
          </a:p>
          <a:p>
            <a:pPr lvl="1"/>
            <a:r>
              <a:rPr lang="fr-FR" b="1" dirty="0">
                <a:latin typeface="Times New Roman" pitchFamily="18" charset="0"/>
                <a:cs typeface="Times New Roman" pitchFamily="18" charset="0"/>
              </a:rPr>
              <a:t>Trop à droite</a:t>
            </a:r>
            <a:r>
              <a:rPr lang="fr-FR" dirty="0">
                <a:latin typeface="Times New Roman" pitchFamily="18" charset="0"/>
                <a:cs typeface="Times New Roman" pitchFamily="18" charset="0"/>
              </a:rPr>
              <a:t> → Ajustement vers la gauche.</a:t>
            </a:r>
          </a:p>
          <a:p>
            <a:pPr marL="0" indent="0">
              <a:buNone/>
            </a:pPr>
            <a:endParaRPr lang="fr-FR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 descr="C:\Users\user\Desktop\schema_suiveur_lign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425" y="2113635"/>
            <a:ext cx="4620802" cy="3263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1081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>
                <a:latin typeface="Times New Roman" pitchFamily="18" charset="0"/>
                <a:cs typeface="Times New Roman" pitchFamily="18" charset="0"/>
              </a:rPr>
              <a:t>Logique de Contrôle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2000" b="1" dirty="0">
                <a:latin typeface="Times New Roman" pitchFamily="18" charset="0"/>
                <a:cs typeface="Times New Roman" pitchFamily="18" charset="0"/>
              </a:rPr>
              <a:t>Principe de contrôle proportionnel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:</a:t>
            </a:r>
          </a:p>
          <a:p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Le robot ajuste ses vitesses en fonction de la différence (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Δ)entre 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les valeurs des capteurs IR</a:t>
            </a:r>
            <a:r>
              <a:rPr lang="fr-FR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fr-FR" sz="2000" b="1" dirty="0">
                <a:latin typeface="Times New Roman" pitchFamily="18" charset="0"/>
                <a:cs typeface="Times New Roman" pitchFamily="18" charset="0"/>
              </a:rPr>
              <a:t>Équations pour ajuster les vitesses des moteurs</a:t>
            </a:r>
            <a:r>
              <a:rPr lang="fr-FR" sz="2000" dirty="0">
                <a:latin typeface="Times New Roman" pitchFamily="18" charset="0"/>
                <a:cs typeface="Times New Roman" pitchFamily="18" charset="0"/>
              </a:rPr>
              <a:t> :</a:t>
            </a:r>
          </a:p>
          <a:p>
            <a:pPr marL="0" indent="0">
              <a:buNone/>
            </a:pPr>
            <a:endParaRPr lang="fr-FR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310" y="2984213"/>
            <a:ext cx="4902200" cy="189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472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Times New Roman" pitchFamily="18" charset="0"/>
                <a:cs typeface="Times New Roman" pitchFamily="18" charset="0"/>
              </a:rPr>
              <a:t>Modélisation des Capteurs et </a:t>
            </a:r>
            <a:r>
              <a:rPr lang="fr-FR" dirty="0" err="1" smtClean="0">
                <a:latin typeface="Times New Roman" pitchFamily="18" charset="0"/>
                <a:cs typeface="Times New Roman" pitchFamily="18" charset="0"/>
              </a:rPr>
              <a:t>Contrôl</a:t>
            </a:r>
            <a:endParaRPr lang="fr-FR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318" y="1970028"/>
            <a:ext cx="6387240" cy="2434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3624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Explications de code Python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196" y="2724454"/>
            <a:ext cx="6413609" cy="2290575"/>
          </a:xfrm>
        </p:spPr>
        <p:txBody>
          <a:bodyPr>
            <a:normAutofit lnSpcReduction="10000"/>
          </a:bodyPr>
          <a:lstStyle/>
          <a:p>
            <a:r>
              <a:rPr sz="1700" b="1" dirty="0" err="1" smtClean="0"/>
              <a:t>Bibliothèque</a:t>
            </a:r>
            <a:r>
              <a:rPr sz="1700" b="1" dirty="0" smtClean="0"/>
              <a:t> </a:t>
            </a:r>
            <a:r>
              <a:rPr sz="1700" b="1" dirty="0" err="1"/>
              <a:t>utilisée</a:t>
            </a:r>
            <a:r>
              <a:rPr sz="1700" b="1" dirty="0"/>
              <a:t> : </a:t>
            </a:r>
            <a:r>
              <a:rPr sz="1700" dirty="0"/>
              <a:t>`</a:t>
            </a:r>
            <a:r>
              <a:rPr sz="1700" dirty="0">
                <a:solidFill>
                  <a:srgbClr val="FF0000"/>
                </a:solidFill>
              </a:rPr>
              <a:t>from controller import Robot</a:t>
            </a:r>
            <a:r>
              <a:rPr sz="1700" dirty="0"/>
              <a:t>` </a:t>
            </a:r>
            <a:r>
              <a:rPr sz="1700" dirty="0" err="1"/>
              <a:t>importe</a:t>
            </a:r>
            <a:r>
              <a:rPr sz="1700" dirty="0"/>
              <a:t> la </a:t>
            </a:r>
            <a:r>
              <a:rPr sz="1700" dirty="0" err="1"/>
              <a:t>classe</a:t>
            </a:r>
            <a:r>
              <a:rPr sz="1700" dirty="0"/>
              <a:t> Robot, qui </a:t>
            </a:r>
            <a:r>
              <a:rPr sz="1700" dirty="0" err="1"/>
              <a:t>permet</a:t>
            </a:r>
            <a:r>
              <a:rPr sz="1700" dirty="0"/>
              <a:t> de </a:t>
            </a:r>
            <a:r>
              <a:rPr sz="1700" dirty="0" err="1"/>
              <a:t>contrôler</a:t>
            </a:r>
            <a:r>
              <a:rPr sz="1700" dirty="0"/>
              <a:t> le robot </a:t>
            </a:r>
            <a:r>
              <a:rPr sz="1700" dirty="0" err="1" smtClean="0"/>
              <a:t>dans</a:t>
            </a:r>
            <a:r>
              <a:rPr lang="en-US" sz="1700" dirty="0"/>
              <a:t> </a:t>
            </a:r>
            <a:r>
              <a:rPr sz="1700" dirty="0" err="1" smtClean="0"/>
              <a:t>l'environnement</a:t>
            </a:r>
            <a:r>
              <a:rPr lang="en-US" sz="1700" dirty="0" smtClean="0"/>
              <a:t> </a:t>
            </a:r>
            <a:r>
              <a:rPr sz="1700" dirty="0" smtClean="0"/>
              <a:t> </a:t>
            </a:r>
            <a:r>
              <a:rPr sz="1700" dirty="0" err="1"/>
              <a:t>Webots</a:t>
            </a:r>
            <a:r>
              <a:rPr sz="1700" dirty="0"/>
              <a:t>.</a:t>
            </a:r>
          </a:p>
          <a:p>
            <a:r>
              <a:rPr sz="1700" b="1" dirty="0" err="1" smtClean="0"/>
              <a:t>Fonction</a:t>
            </a:r>
            <a:r>
              <a:rPr sz="1700" b="1" dirty="0" smtClean="0"/>
              <a:t> </a:t>
            </a:r>
            <a:r>
              <a:rPr sz="1700" b="1" dirty="0" err="1"/>
              <a:t>principale</a:t>
            </a:r>
            <a:r>
              <a:rPr sz="1700" b="1" dirty="0"/>
              <a:t> : </a:t>
            </a:r>
            <a:r>
              <a:rPr sz="1700" dirty="0"/>
              <a:t>La </a:t>
            </a:r>
            <a:r>
              <a:rPr sz="1700" dirty="0" err="1"/>
              <a:t>fonction</a:t>
            </a:r>
            <a:r>
              <a:rPr sz="1700" dirty="0"/>
              <a:t> `</a:t>
            </a:r>
            <a:r>
              <a:rPr sz="1700" dirty="0" err="1">
                <a:solidFill>
                  <a:srgbClr val="FF0000"/>
                </a:solidFill>
              </a:rPr>
              <a:t>piloter_robot</a:t>
            </a:r>
            <a:r>
              <a:rPr sz="1700" dirty="0">
                <a:solidFill>
                  <a:srgbClr val="FF0000"/>
                </a:solidFill>
              </a:rPr>
              <a:t>(robot)</a:t>
            </a:r>
            <a:r>
              <a:rPr sz="1700" dirty="0"/>
              <a:t>` </a:t>
            </a:r>
            <a:r>
              <a:rPr sz="1700" dirty="0" err="1"/>
              <a:t>inclut</a:t>
            </a:r>
            <a:r>
              <a:rPr sz="1700" dirty="0"/>
              <a:t> </a:t>
            </a:r>
            <a:r>
              <a:rPr sz="1700" dirty="0" err="1"/>
              <a:t>toute</a:t>
            </a:r>
            <a:r>
              <a:rPr sz="1700" dirty="0"/>
              <a:t> la </a:t>
            </a:r>
            <a:r>
              <a:rPr sz="1700" dirty="0" err="1"/>
              <a:t>logique</a:t>
            </a:r>
            <a:r>
              <a:rPr sz="1700" dirty="0"/>
              <a:t> de </a:t>
            </a:r>
            <a:r>
              <a:rPr sz="1700" dirty="0" err="1"/>
              <a:t>contrôle</a:t>
            </a:r>
            <a:r>
              <a:rPr sz="1700" dirty="0"/>
              <a:t>.</a:t>
            </a:r>
          </a:p>
          <a:p>
            <a:r>
              <a:rPr sz="1700" b="1" dirty="0" err="1" smtClean="0"/>
              <a:t>Paramètres</a:t>
            </a:r>
            <a:r>
              <a:rPr sz="1700" b="1" dirty="0" smtClean="0"/>
              <a:t> </a:t>
            </a:r>
            <a:r>
              <a:rPr sz="1700" b="1" dirty="0"/>
              <a:t>:</a:t>
            </a:r>
          </a:p>
          <a:p>
            <a:pPr marL="0" indent="0">
              <a:buNone/>
            </a:pPr>
            <a:r>
              <a:rPr sz="1700" dirty="0" smtClean="0"/>
              <a:t> </a:t>
            </a:r>
            <a:r>
              <a:rPr sz="1700" dirty="0"/>
              <a:t>`</a:t>
            </a:r>
            <a:r>
              <a:rPr sz="1700" dirty="0" err="1">
                <a:solidFill>
                  <a:srgbClr val="00B050"/>
                </a:solidFill>
              </a:rPr>
              <a:t>pas_de_temps</a:t>
            </a:r>
            <a:r>
              <a:rPr sz="1700" dirty="0"/>
              <a:t>` : </a:t>
            </a:r>
            <a:r>
              <a:rPr sz="1700" dirty="0" err="1"/>
              <a:t>Intervalle</a:t>
            </a:r>
            <a:r>
              <a:rPr sz="1700" dirty="0"/>
              <a:t> de simulation (</a:t>
            </a:r>
            <a:r>
              <a:rPr sz="1700" dirty="0">
                <a:solidFill>
                  <a:srgbClr val="0070C0"/>
                </a:solidFill>
              </a:rPr>
              <a:t>32 </a:t>
            </a:r>
            <a:r>
              <a:rPr sz="1700" dirty="0" err="1">
                <a:solidFill>
                  <a:srgbClr val="0070C0"/>
                </a:solidFill>
              </a:rPr>
              <a:t>ms</a:t>
            </a:r>
            <a:r>
              <a:rPr sz="1700" dirty="0"/>
              <a:t>).</a:t>
            </a:r>
          </a:p>
          <a:p>
            <a:pPr marL="0" indent="0">
              <a:buNone/>
            </a:pPr>
            <a:r>
              <a:rPr sz="1700" dirty="0" smtClean="0"/>
              <a:t> </a:t>
            </a:r>
            <a:r>
              <a:rPr sz="1700" dirty="0"/>
              <a:t>`</a:t>
            </a:r>
            <a:r>
              <a:rPr sz="1700" dirty="0" err="1">
                <a:solidFill>
                  <a:srgbClr val="00B050"/>
                </a:solidFill>
              </a:rPr>
              <a:t>vitesse_maximale</a:t>
            </a:r>
            <a:r>
              <a:rPr sz="1700" dirty="0"/>
              <a:t>` : </a:t>
            </a:r>
            <a:r>
              <a:rPr sz="1700" dirty="0" err="1"/>
              <a:t>Vitesse</a:t>
            </a:r>
            <a:r>
              <a:rPr sz="1700" dirty="0"/>
              <a:t> </a:t>
            </a:r>
            <a:r>
              <a:rPr sz="1700" dirty="0" err="1"/>
              <a:t>angulaire</a:t>
            </a:r>
            <a:r>
              <a:rPr sz="1700" dirty="0"/>
              <a:t> </a:t>
            </a:r>
            <a:r>
              <a:rPr sz="1700" dirty="0" err="1"/>
              <a:t>maximale</a:t>
            </a:r>
            <a:r>
              <a:rPr sz="1700" dirty="0"/>
              <a:t> (</a:t>
            </a:r>
            <a:r>
              <a:rPr sz="1700" dirty="0">
                <a:solidFill>
                  <a:srgbClr val="0070C0"/>
                </a:solidFill>
              </a:rPr>
              <a:t>6.28 rad/s</a:t>
            </a:r>
            <a:r>
              <a:rPr sz="1700" dirty="0"/>
              <a:t>).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9244" y="1350110"/>
            <a:ext cx="3206805" cy="11892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81371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Explications de code Python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195" y="2877160"/>
            <a:ext cx="6260905" cy="2137870"/>
          </a:xfrm>
        </p:spPr>
        <p:txBody>
          <a:bodyPr>
            <a:normAutofit/>
          </a:bodyPr>
          <a:lstStyle/>
          <a:p>
            <a:r>
              <a:rPr lang="fr-FR" dirty="0" smtClean="0"/>
              <a:t>Identification </a:t>
            </a:r>
            <a:r>
              <a:rPr lang="fr-FR" dirty="0"/>
              <a:t>des moteurs via `</a:t>
            </a:r>
            <a:r>
              <a:rPr lang="fr-FR" dirty="0" err="1">
                <a:solidFill>
                  <a:srgbClr val="FF0000"/>
                </a:solidFill>
              </a:rPr>
              <a:t>getDevice</a:t>
            </a:r>
            <a:r>
              <a:rPr lang="fr-FR" dirty="0">
                <a:solidFill>
                  <a:srgbClr val="FF0000"/>
                </a:solidFill>
              </a:rPr>
              <a:t>()</a:t>
            </a:r>
            <a:r>
              <a:rPr lang="fr-FR" dirty="0"/>
              <a:t>`.</a:t>
            </a:r>
          </a:p>
          <a:p>
            <a:r>
              <a:rPr lang="fr-FR" dirty="0" smtClean="0"/>
              <a:t>Position </a:t>
            </a:r>
            <a:r>
              <a:rPr lang="fr-FR" dirty="0"/>
              <a:t>infinie avec `</a:t>
            </a:r>
            <a:r>
              <a:rPr lang="fr-FR" dirty="0" err="1">
                <a:solidFill>
                  <a:srgbClr val="FF0000"/>
                </a:solidFill>
              </a:rPr>
              <a:t>setPosition</a:t>
            </a:r>
            <a:r>
              <a:rPr lang="fr-FR" dirty="0">
                <a:solidFill>
                  <a:srgbClr val="FF0000"/>
                </a:solidFill>
              </a:rPr>
              <a:t>(</a:t>
            </a:r>
            <a:r>
              <a:rPr lang="fr-FR" dirty="0" err="1">
                <a:solidFill>
                  <a:srgbClr val="FF0000"/>
                </a:solidFill>
              </a:rPr>
              <a:t>float</a:t>
            </a:r>
            <a:r>
              <a:rPr lang="fr-FR" dirty="0">
                <a:solidFill>
                  <a:srgbClr val="FF0000"/>
                </a:solidFill>
              </a:rPr>
              <a:t>('</a:t>
            </a:r>
            <a:r>
              <a:rPr lang="fr-FR" dirty="0" err="1">
                <a:solidFill>
                  <a:srgbClr val="FFC000"/>
                </a:solidFill>
              </a:rPr>
              <a:t>inf</a:t>
            </a:r>
            <a:r>
              <a:rPr lang="fr-FR" dirty="0">
                <a:solidFill>
                  <a:srgbClr val="FF0000"/>
                </a:solidFill>
              </a:rPr>
              <a:t>'))</a:t>
            </a:r>
            <a:r>
              <a:rPr lang="fr-FR" dirty="0"/>
              <a:t>` pour un mouvement continu.</a:t>
            </a:r>
          </a:p>
          <a:p>
            <a:r>
              <a:rPr lang="fr-FR" dirty="0" smtClean="0"/>
              <a:t>Initialisation </a:t>
            </a:r>
            <a:r>
              <a:rPr lang="fr-FR" dirty="0"/>
              <a:t>des vitesses à 0 avec `</a:t>
            </a:r>
            <a:r>
              <a:rPr lang="fr-FR" dirty="0" err="1">
                <a:solidFill>
                  <a:srgbClr val="FF0000"/>
                </a:solidFill>
              </a:rPr>
              <a:t>setVelocity</a:t>
            </a:r>
            <a:r>
              <a:rPr lang="fr-FR" dirty="0">
                <a:solidFill>
                  <a:srgbClr val="FF0000"/>
                </a:solidFill>
              </a:rPr>
              <a:t>(</a:t>
            </a:r>
            <a:r>
              <a:rPr lang="fr-FR" dirty="0">
                <a:solidFill>
                  <a:srgbClr val="0070C0"/>
                </a:solidFill>
              </a:rPr>
              <a:t>0.0</a:t>
            </a:r>
            <a:r>
              <a:rPr lang="fr-FR" dirty="0">
                <a:solidFill>
                  <a:srgbClr val="FF0000"/>
                </a:solidFill>
              </a:rPr>
              <a:t>)</a:t>
            </a:r>
            <a:r>
              <a:rPr lang="fr-FR" dirty="0"/>
              <a:t>`.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130" y="1502815"/>
            <a:ext cx="4514301" cy="1221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926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Explications de code Python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195" y="2877160"/>
            <a:ext cx="6260905" cy="2137870"/>
          </a:xfrm>
        </p:spPr>
        <p:txBody>
          <a:bodyPr>
            <a:normAutofit/>
          </a:bodyPr>
          <a:lstStyle/>
          <a:p>
            <a:r>
              <a:rPr lang="fr-FR" dirty="0" smtClean="0"/>
              <a:t>Activation </a:t>
            </a:r>
            <a:r>
              <a:rPr lang="fr-FR" dirty="0"/>
              <a:t>des capteurs gauche (`</a:t>
            </a:r>
            <a:r>
              <a:rPr lang="fr-FR" dirty="0">
                <a:solidFill>
                  <a:srgbClr val="FFC000"/>
                </a:solidFill>
              </a:rPr>
              <a:t>ir0</a:t>
            </a:r>
            <a:r>
              <a:rPr lang="fr-FR" dirty="0"/>
              <a:t>`) et droit (`</a:t>
            </a:r>
            <a:r>
              <a:rPr lang="fr-FR" dirty="0">
                <a:solidFill>
                  <a:srgbClr val="FFC000"/>
                </a:solidFill>
              </a:rPr>
              <a:t>ir1</a:t>
            </a:r>
            <a:r>
              <a:rPr lang="fr-FR" dirty="0"/>
              <a:t>`).</a:t>
            </a:r>
          </a:p>
          <a:p>
            <a:r>
              <a:rPr lang="fr-FR" dirty="0" smtClean="0"/>
              <a:t>Période </a:t>
            </a:r>
            <a:r>
              <a:rPr lang="fr-FR" dirty="0"/>
              <a:t>d'échantillonnage définie à </a:t>
            </a:r>
            <a:r>
              <a:rPr lang="fr-FR" dirty="0">
                <a:solidFill>
                  <a:srgbClr val="0070C0"/>
                </a:solidFill>
              </a:rPr>
              <a:t>32 ms </a:t>
            </a:r>
            <a:r>
              <a:rPr lang="fr-FR" dirty="0"/>
              <a:t>avec `</a:t>
            </a:r>
            <a:r>
              <a:rPr lang="fr-FR" dirty="0" err="1">
                <a:solidFill>
                  <a:srgbClr val="FF0000"/>
                </a:solidFill>
              </a:rPr>
              <a:t>enable</a:t>
            </a:r>
            <a:r>
              <a:rPr lang="fr-FR" dirty="0">
                <a:solidFill>
                  <a:srgbClr val="FF0000"/>
                </a:solidFill>
              </a:rPr>
              <a:t>(</a:t>
            </a:r>
            <a:r>
              <a:rPr lang="fr-FR" dirty="0" err="1">
                <a:solidFill>
                  <a:srgbClr val="FF0000"/>
                </a:solidFill>
              </a:rPr>
              <a:t>pas_de_temps</a:t>
            </a:r>
            <a:r>
              <a:rPr lang="fr-FR" dirty="0">
                <a:solidFill>
                  <a:srgbClr val="FF0000"/>
                </a:solidFill>
              </a:rPr>
              <a:t>)</a:t>
            </a:r>
            <a:r>
              <a:rPr lang="fr-FR" dirty="0"/>
              <a:t>`. 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100" y="1502815"/>
            <a:ext cx="4749800" cy="1257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344954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Explications de code Python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195" y="2877160"/>
            <a:ext cx="6260905" cy="2137870"/>
          </a:xfrm>
        </p:spPr>
        <p:txBody>
          <a:bodyPr>
            <a:normAutofit/>
          </a:bodyPr>
          <a:lstStyle/>
          <a:p>
            <a:r>
              <a:rPr lang="fr-FR" dirty="0" smtClean="0"/>
              <a:t>La </a:t>
            </a:r>
            <a:r>
              <a:rPr lang="fr-FR" dirty="0"/>
              <a:t>boucle utilise `</a:t>
            </a:r>
            <a:r>
              <a:rPr lang="fr-FR" dirty="0" err="1">
                <a:solidFill>
                  <a:srgbClr val="FF0000"/>
                </a:solidFill>
              </a:rPr>
              <a:t>robot.step</a:t>
            </a:r>
            <a:r>
              <a:rPr lang="fr-FR" dirty="0">
                <a:solidFill>
                  <a:srgbClr val="FF0000"/>
                </a:solidFill>
              </a:rPr>
              <a:t>(</a:t>
            </a:r>
            <a:r>
              <a:rPr lang="fr-FR" dirty="0" err="1">
                <a:solidFill>
                  <a:srgbClr val="00B050"/>
                </a:solidFill>
              </a:rPr>
              <a:t>pas_de_temps</a:t>
            </a:r>
            <a:r>
              <a:rPr lang="fr-FR" dirty="0">
                <a:solidFill>
                  <a:srgbClr val="FF0000"/>
                </a:solidFill>
              </a:rPr>
              <a:t>)</a:t>
            </a:r>
            <a:r>
              <a:rPr lang="fr-FR" dirty="0"/>
              <a:t>` pour avancer dans la simulation.</a:t>
            </a:r>
          </a:p>
          <a:p>
            <a:r>
              <a:rPr lang="fr-FR" dirty="0" smtClean="0"/>
              <a:t>Lecture </a:t>
            </a:r>
            <a:r>
              <a:rPr lang="fr-FR" dirty="0"/>
              <a:t>des valeurs des capteurs avec `</a:t>
            </a:r>
            <a:r>
              <a:rPr lang="fr-FR" dirty="0" err="1">
                <a:solidFill>
                  <a:srgbClr val="FF0000"/>
                </a:solidFill>
              </a:rPr>
              <a:t>getValue</a:t>
            </a:r>
            <a:r>
              <a:rPr lang="fr-FR" dirty="0">
                <a:solidFill>
                  <a:srgbClr val="FF0000"/>
                </a:solidFill>
              </a:rPr>
              <a:t>()</a:t>
            </a:r>
            <a:r>
              <a:rPr lang="fr-FR" dirty="0"/>
              <a:t>`.</a:t>
            </a:r>
          </a:p>
          <a:p>
            <a:r>
              <a:rPr lang="fr-FR" dirty="0" smtClean="0"/>
              <a:t>Affichage </a:t>
            </a:r>
            <a:r>
              <a:rPr lang="fr-FR" dirty="0"/>
              <a:t>des données pour suivi en temps réel avec `</a:t>
            </a:r>
            <a:r>
              <a:rPr lang="fr-FR" dirty="0" err="1">
                <a:solidFill>
                  <a:srgbClr val="FF0000"/>
                </a:solidFill>
              </a:rPr>
              <a:t>print</a:t>
            </a:r>
            <a:r>
              <a:rPr lang="fr-FR" dirty="0">
                <a:solidFill>
                  <a:srgbClr val="FF0000"/>
                </a:solidFill>
              </a:rPr>
              <a:t>()</a:t>
            </a:r>
            <a:r>
              <a:rPr lang="fr-FR" dirty="0"/>
              <a:t>`. 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605" y="1502815"/>
            <a:ext cx="5710050" cy="1240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5497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Explications de code Python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195" y="2571750"/>
            <a:ext cx="6260905" cy="2137870"/>
          </a:xfrm>
        </p:spPr>
        <p:txBody>
          <a:bodyPr>
            <a:normAutofit/>
          </a:bodyPr>
          <a:lstStyle/>
          <a:p>
            <a:r>
              <a:rPr lang="fr-FR" dirty="0" smtClean="0"/>
              <a:t>Les vitesses gauche et droite sont fixées à </a:t>
            </a:r>
            <a:r>
              <a:rPr lang="fr-FR" dirty="0" smtClean="0">
                <a:solidFill>
                  <a:srgbClr val="0070C0"/>
                </a:solidFill>
              </a:rPr>
              <a:t>25% </a:t>
            </a:r>
            <a:r>
              <a:rPr lang="fr-FR" dirty="0" smtClean="0"/>
              <a:t>de la vitesse maximale pour avancer lentement et garder la stabilité.</a:t>
            </a:r>
            <a:endParaRPr lang="fr-FR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00" y="1937532"/>
            <a:ext cx="46228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470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Explications de code Python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195" y="3005630"/>
            <a:ext cx="6260905" cy="1703990"/>
          </a:xfrm>
        </p:spPr>
        <p:txBody>
          <a:bodyPr>
            <a:normAutofit/>
          </a:bodyPr>
          <a:lstStyle/>
          <a:p>
            <a:r>
              <a:rPr lang="fr-FR" b="1" dirty="0" smtClean="0"/>
              <a:t>Tourner </a:t>
            </a:r>
            <a:r>
              <a:rPr lang="fr-FR" b="1" dirty="0"/>
              <a:t>à gauche : </a:t>
            </a:r>
            <a:r>
              <a:rPr lang="fr-FR" dirty="0"/>
              <a:t>inverser la roue gauche si le capteur gauche détecte une surface sombre.</a:t>
            </a:r>
          </a:p>
          <a:p>
            <a:r>
              <a:rPr lang="fr-FR" b="1" dirty="0" smtClean="0"/>
              <a:t>Tourner </a:t>
            </a:r>
            <a:r>
              <a:rPr lang="fr-FR" b="1" dirty="0"/>
              <a:t>à droite : </a:t>
            </a:r>
            <a:r>
              <a:rPr lang="fr-FR" dirty="0"/>
              <a:t>inverser la roue droite si le capteur droit détecte une surface sombre. 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605" y="1502815"/>
            <a:ext cx="5718271" cy="1411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87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Explications de code Python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2170" y="1993205"/>
            <a:ext cx="6260905" cy="916230"/>
          </a:xfrm>
        </p:spPr>
        <p:txBody>
          <a:bodyPr>
            <a:normAutofit/>
          </a:bodyPr>
          <a:lstStyle/>
          <a:p>
            <a:r>
              <a:rPr lang="fr-FR" dirty="0" smtClean="0"/>
              <a:t>Les </a:t>
            </a:r>
            <a:r>
              <a:rPr lang="fr-FR" dirty="0"/>
              <a:t>vitesses calculées sont appliquées aux moteurs avec `</a:t>
            </a:r>
            <a:r>
              <a:rPr lang="fr-FR" dirty="0" err="1">
                <a:solidFill>
                  <a:srgbClr val="FF0000"/>
                </a:solidFill>
              </a:rPr>
              <a:t>setVelocity</a:t>
            </a:r>
            <a:r>
              <a:rPr lang="fr-FR" dirty="0">
                <a:solidFill>
                  <a:srgbClr val="FF0000"/>
                </a:solidFill>
              </a:rPr>
              <a:t>()</a:t>
            </a:r>
            <a:r>
              <a:rPr lang="fr-FR" dirty="0"/>
              <a:t>`.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015" y="1433003"/>
            <a:ext cx="4999217" cy="523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226341" y="3640685"/>
            <a:ext cx="6260905" cy="1221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 smtClean="0"/>
              <a:t>Création d'une instance du robot avec `</a:t>
            </a:r>
            <a:r>
              <a:rPr lang="fr-FR" dirty="0" smtClean="0">
                <a:solidFill>
                  <a:srgbClr val="FF0000"/>
                </a:solidFill>
              </a:rPr>
              <a:t>Robot()</a:t>
            </a:r>
            <a:r>
              <a:rPr lang="fr-FR" dirty="0" smtClean="0"/>
              <a:t>`.</a:t>
            </a:r>
          </a:p>
          <a:p>
            <a:r>
              <a:rPr lang="fr-FR" dirty="0" smtClean="0"/>
              <a:t>Appel de la fonction `</a:t>
            </a:r>
            <a:r>
              <a:rPr lang="fr-FR" dirty="0" err="1" smtClean="0">
                <a:solidFill>
                  <a:srgbClr val="FF0000"/>
                </a:solidFill>
              </a:rPr>
              <a:t>piloter_robot</a:t>
            </a:r>
            <a:r>
              <a:rPr lang="fr-FR" dirty="0" smtClean="0">
                <a:solidFill>
                  <a:srgbClr val="FF0000"/>
                </a:solidFill>
              </a:rPr>
              <a:t>()</a:t>
            </a:r>
            <a:r>
              <a:rPr lang="fr-FR" dirty="0" smtClean="0"/>
              <a:t>` pour lancer la simulation.</a:t>
            </a:r>
            <a:endParaRPr lang="fr-FR" dirty="0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601" y="2868877"/>
            <a:ext cx="4128383" cy="771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0129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/>
          <p:cNvSpPr txBox="1"/>
          <p:nvPr/>
        </p:nvSpPr>
        <p:spPr>
          <a:xfrm>
            <a:off x="374900" y="2113635"/>
            <a:ext cx="32068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>
                <a:ln w="12700">
                  <a:solidFill>
                    <a:schemeClr val="bg1"/>
                  </a:solidFill>
                  <a:prstDash val="solid"/>
                </a:ln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Merci de votre attention</a:t>
            </a:r>
          </a:p>
        </p:txBody>
      </p:sp>
    </p:spTree>
    <p:extLst>
      <p:ext uri="{BB962C8B-B14F-4D97-AF65-F5344CB8AC3E}">
        <p14:creationId xmlns:p14="http://schemas.microsoft.com/office/powerpoint/2010/main" val="4246964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655</Words>
  <Application>Microsoft Office PowerPoint</Application>
  <PresentationFormat>Personnalisé</PresentationFormat>
  <Paragraphs>81</Paragraphs>
  <Slides>18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19" baseType="lpstr">
      <vt:lpstr>Office Theme</vt:lpstr>
      <vt:lpstr>Robot Suiveur de Ligne</vt:lpstr>
      <vt:lpstr>Présentation PowerPoint</vt:lpstr>
      <vt:lpstr>Introduction :</vt:lpstr>
      <vt:lpstr>Principe de Fonctionnement (Capteurs IR)</vt:lpstr>
      <vt:lpstr>Principe de Fonctionnement (Capteurs IR)</vt:lpstr>
      <vt:lpstr>Réglage des Moteurs en Fonction des Capteurs</vt:lpstr>
      <vt:lpstr>Cinématique du Robot (Formules)</vt:lpstr>
      <vt:lpstr>Logique de Suivi de Ligne</vt:lpstr>
      <vt:lpstr>Logique de Contrôle </vt:lpstr>
      <vt:lpstr>Modélisation des Capteurs et Contrôl</vt:lpstr>
      <vt:lpstr>Explications de code Python</vt:lpstr>
      <vt:lpstr>Explications de code Python</vt:lpstr>
      <vt:lpstr>Explications de code Python</vt:lpstr>
      <vt:lpstr>Explications de code Python</vt:lpstr>
      <vt:lpstr>Explications de code Python</vt:lpstr>
      <vt:lpstr>Explications de code Python</vt:lpstr>
      <vt:lpstr>Explications de code Python</vt:lpstr>
      <vt:lpstr>Présentation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2017-08-01T15:40:51Z</dcterms:created>
  <dcterms:modified xsi:type="dcterms:W3CDTF">2025-01-16T21:28:42Z</dcterms:modified>
</cp:coreProperties>
</file>